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4" roundtripDataSignature="AMtx7mhzUz36Q77x9YrYss1MO+8QtgMu1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946" y="355"/>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7" name="Google Shape;227;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 name="Google Shape;234;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3" name="Google Shape;25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2" name="Google Shape;262;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2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2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2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2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9"/>
          <p:cNvSpPr>
            <a:spLocks noGrp="1"/>
          </p:cNvSpPr>
          <p:nvPr>
            <p:ph type="pic" idx="2"/>
          </p:nvPr>
        </p:nvSpPr>
        <p:spPr>
          <a:xfrm>
            <a:off x="1792288" y="612775"/>
            <a:ext cx="5486400" cy="4114800"/>
          </a:xfrm>
          <a:prstGeom prst="rect">
            <a:avLst/>
          </a:prstGeom>
          <a:noFill/>
          <a:ln>
            <a:noFill/>
          </a:ln>
        </p:spPr>
      </p:sp>
      <p:sp>
        <p:nvSpPr>
          <p:cNvPr id="64" name="Google Shape;64;p2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9.jp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106680" y="0"/>
            <a:ext cx="18394680" cy="10287000"/>
          </a:xfrm>
          <a:custGeom>
            <a:avLst/>
            <a:gdLst/>
            <a:ahLst/>
            <a:cxnLst/>
            <a:rect l="l" t="t" r="r" b="b"/>
            <a:pathLst>
              <a:path w="24384000" h="13716000" extrusionOk="0">
                <a:moveTo>
                  <a:pt x="24384000" y="13716000"/>
                </a:moveTo>
                <a:lnTo>
                  <a:pt x="0" y="13716000"/>
                </a:lnTo>
                <a:lnTo>
                  <a:pt x="0" y="0"/>
                </a:lnTo>
                <a:lnTo>
                  <a:pt x="24384000" y="0"/>
                </a:lnTo>
                <a:lnTo>
                  <a:pt x="24384000" y="13716000"/>
                </a:lnTo>
                <a:close/>
              </a:path>
            </a:pathLst>
          </a:custGeom>
          <a:solidFill>
            <a:srgbClr val="000000"/>
          </a:solidFill>
          <a:ln w="12700" cap="flat" cmpd="sng">
            <a:solidFill>
              <a:srgbClr val="000000"/>
            </a:solidFill>
            <a:prstDash val="solid"/>
            <a:round/>
            <a:headEnd type="none" w="sm" len="sm"/>
            <a:tailEnd type="none" w="sm" len="sm"/>
          </a:ln>
        </p:spPr>
      </p:sp>
      <p:sp>
        <p:nvSpPr>
          <p:cNvPr id="85" name="Google Shape;85;p1"/>
          <p:cNvSpPr/>
          <p:nvPr/>
        </p:nvSpPr>
        <p:spPr>
          <a:xfrm>
            <a:off x="0" y="0"/>
            <a:ext cx="18287999" cy="7178040"/>
          </a:xfrm>
          <a:custGeom>
            <a:avLst/>
            <a:gdLst/>
            <a:ahLst/>
            <a:cxnLst/>
            <a:rect l="l" t="t" r="r" b="b"/>
            <a:pathLst>
              <a:path w="24384000" h="9525000" extrusionOk="0">
                <a:moveTo>
                  <a:pt x="0" y="0"/>
                </a:moveTo>
                <a:lnTo>
                  <a:pt x="24384000" y="0"/>
                </a:lnTo>
                <a:lnTo>
                  <a:pt x="24384000" y="9525000"/>
                </a:lnTo>
                <a:lnTo>
                  <a:pt x="0" y="9525000"/>
                </a:lnTo>
                <a:lnTo>
                  <a:pt x="0" y="0"/>
                </a:lnTo>
                <a:close/>
              </a:path>
            </a:pathLst>
          </a:custGeom>
          <a:blipFill rotWithShape="1">
            <a:blip r:embed="rId3">
              <a:alphaModFix/>
            </a:blip>
            <a:stretch>
              <a:fillRect t="-121" b="-120"/>
            </a:stretch>
          </a:blipFill>
          <a:ln>
            <a:noFill/>
          </a:ln>
        </p:spPr>
      </p:sp>
      <p:sp>
        <p:nvSpPr>
          <p:cNvPr id="86" name="Google Shape;86;p1"/>
          <p:cNvSpPr txBox="1"/>
          <p:nvPr/>
        </p:nvSpPr>
        <p:spPr>
          <a:xfrm>
            <a:off x="127252" y="8078184"/>
            <a:ext cx="9261157" cy="778828"/>
          </a:xfrm>
          <a:prstGeom prst="rect">
            <a:avLst/>
          </a:prstGeom>
          <a:noFill/>
          <a:ln>
            <a:noFill/>
          </a:ln>
        </p:spPr>
        <p:txBody>
          <a:bodyPr spcFirstLastPara="1" wrap="square" lIns="0" tIns="0" rIns="0" bIns="0" anchor="t" anchorCtr="0">
            <a:spAutoFit/>
          </a:bodyPr>
          <a:lstStyle/>
          <a:p>
            <a:pPr marL="0" marR="0" lvl="0" indent="0" algn="l" rtl="0">
              <a:lnSpc>
                <a:spcPct val="119979"/>
              </a:lnSpc>
              <a:spcBef>
                <a:spcPts val="0"/>
              </a:spcBef>
              <a:spcAft>
                <a:spcPts val="0"/>
              </a:spcAft>
              <a:buNone/>
            </a:pPr>
            <a:r>
              <a:rPr lang="en-US" sz="4800" b="1" i="0" u="none" strike="noStrike" cap="none">
                <a:solidFill>
                  <a:srgbClr val="FFFFFF"/>
                </a:solidFill>
                <a:latin typeface="Arial"/>
                <a:ea typeface="Arial"/>
                <a:cs typeface="Arial"/>
                <a:sym typeface="Arial"/>
              </a:rPr>
              <a:t>Coronary Artery Disease prediction system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3"/>
          <p:cNvSpPr/>
          <p:nvPr/>
        </p:nvSpPr>
        <p:spPr>
          <a:xfrm>
            <a:off x="1426617" y="3103688"/>
            <a:ext cx="171451" cy="171451"/>
          </a:xfrm>
          <a:custGeom>
            <a:avLst/>
            <a:gdLst/>
            <a:ahLst/>
            <a:cxnLst/>
            <a:rect l="l" t="t" r="r" b="b"/>
            <a:pathLst>
              <a:path w="228600" h="228600" extrusionOk="0">
                <a:moveTo>
                  <a:pt x="0" y="0"/>
                </a:moveTo>
                <a:lnTo>
                  <a:pt x="228600" y="0"/>
                </a:lnTo>
                <a:lnTo>
                  <a:pt x="228600" y="228600"/>
                </a:lnTo>
                <a:lnTo>
                  <a:pt x="0" y="228600"/>
                </a:lnTo>
                <a:lnTo>
                  <a:pt x="0" y="0"/>
                </a:lnTo>
                <a:close/>
              </a:path>
            </a:pathLst>
          </a:custGeom>
          <a:blipFill rotWithShape="1">
            <a:blip r:embed="rId3">
              <a:alphaModFix/>
            </a:blip>
            <a:stretch>
              <a:fillRect/>
            </a:stretch>
          </a:blipFill>
          <a:ln>
            <a:noFill/>
          </a:ln>
        </p:spPr>
      </p:sp>
      <p:sp>
        <p:nvSpPr>
          <p:cNvPr id="92" name="Google Shape;92;p3"/>
          <p:cNvSpPr/>
          <p:nvPr/>
        </p:nvSpPr>
        <p:spPr>
          <a:xfrm>
            <a:off x="1343026" y="5059688"/>
            <a:ext cx="171451" cy="171449"/>
          </a:xfrm>
          <a:custGeom>
            <a:avLst/>
            <a:gdLst/>
            <a:ahLst/>
            <a:cxnLst/>
            <a:rect l="l" t="t" r="r" b="b"/>
            <a:pathLst>
              <a:path w="228600" h="228600" extrusionOk="0">
                <a:moveTo>
                  <a:pt x="0" y="0"/>
                </a:moveTo>
                <a:lnTo>
                  <a:pt x="228600" y="0"/>
                </a:lnTo>
                <a:lnTo>
                  <a:pt x="228600" y="228600"/>
                </a:lnTo>
                <a:lnTo>
                  <a:pt x="0" y="228600"/>
                </a:lnTo>
                <a:lnTo>
                  <a:pt x="0" y="0"/>
                </a:lnTo>
                <a:close/>
              </a:path>
            </a:pathLst>
          </a:custGeom>
          <a:blipFill rotWithShape="1">
            <a:blip r:embed="rId4">
              <a:alphaModFix/>
            </a:blip>
            <a:stretch>
              <a:fillRect/>
            </a:stretch>
          </a:blipFill>
          <a:ln>
            <a:noFill/>
          </a:ln>
        </p:spPr>
      </p:sp>
      <p:sp>
        <p:nvSpPr>
          <p:cNvPr id="93" name="Google Shape;93;p3"/>
          <p:cNvSpPr/>
          <p:nvPr/>
        </p:nvSpPr>
        <p:spPr>
          <a:xfrm>
            <a:off x="1428750" y="6675395"/>
            <a:ext cx="171451" cy="171449"/>
          </a:xfrm>
          <a:custGeom>
            <a:avLst/>
            <a:gdLst/>
            <a:ahLst/>
            <a:cxnLst/>
            <a:rect l="l" t="t" r="r" b="b"/>
            <a:pathLst>
              <a:path w="228600" h="228600" extrusionOk="0">
                <a:moveTo>
                  <a:pt x="0" y="0"/>
                </a:moveTo>
                <a:lnTo>
                  <a:pt x="228600" y="0"/>
                </a:lnTo>
                <a:lnTo>
                  <a:pt x="228600" y="228600"/>
                </a:lnTo>
                <a:lnTo>
                  <a:pt x="0" y="228600"/>
                </a:lnTo>
                <a:lnTo>
                  <a:pt x="0" y="0"/>
                </a:lnTo>
                <a:close/>
              </a:path>
            </a:pathLst>
          </a:custGeom>
          <a:blipFill rotWithShape="1">
            <a:blip r:embed="rId5">
              <a:alphaModFix/>
            </a:blip>
            <a:stretch>
              <a:fillRect/>
            </a:stretch>
          </a:blipFill>
          <a:ln>
            <a:noFill/>
          </a:ln>
        </p:spPr>
      </p:sp>
      <p:sp>
        <p:nvSpPr>
          <p:cNvPr id="94" name="Google Shape;94;p3"/>
          <p:cNvSpPr/>
          <p:nvPr/>
        </p:nvSpPr>
        <p:spPr>
          <a:xfrm>
            <a:off x="9429750" y="3189412"/>
            <a:ext cx="171449" cy="171451"/>
          </a:xfrm>
          <a:custGeom>
            <a:avLst/>
            <a:gdLst/>
            <a:ahLst/>
            <a:cxnLst/>
            <a:rect l="l" t="t" r="r" b="b"/>
            <a:pathLst>
              <a:path w="228600" h="228600" extrusionOk="0">
                <a:moveTo>
                  <a:pt x="0" y="0"/>
                </a:moveTo>
                <a:lnTo>
                  <a:pt x="228600" y="0"/>
                </a:lnTo>
                <a:lnTo>
                  <a:pt x="228600" y="228600"/>
                </a:lnTo>
                <a:lnTo>
                  <a:pt x="0" y="228600"/>
                </a:lnTo>
                <a:lnTo>
                  <a:pt x="0" y="0"/>
                </a:lnTo>
                <a:close/>
              </a:path>
            </a:pathLst>
          </a:custGeom>
          <a:blipFill rotWithShape="1">
            <a:blip r:embed="rId6">
              <a:alphaModFix/>
            </a:blip>
            <a:stretch>
              <a:fillRect/>
            </a:stretch>
          </a:blipFill>
          <a:ln>
            <a:noFill/>
          </a:ln>
        </p:spPr>
      </p:sp>
      <p:sp>
        <p:nvSpPr>
          <p:cNvPr id="95" name="Google Shape;95;p3"/>
          <p:cNvSpPr/>
          <p:nvPr/>
        </p:nvSpPr>
        <p:spPr>
          <a:xfrm>
            <a:off x="9429750" y="4732235"/>
            <a:ext cx="171449" cy="171449"/>
          </a:xfrm>
          <a:custGeom>
            <a:avLst/>
            <a:gdLst/>
            <a:ahLst/>
            <a:cxnLst/>
            <a:rect l="l" t="t" r="r" b="b"/>
            <a:pathLst>
              <a:path w="228600" h="228600" extrusionOk="0">
                <a:moveTo>
                  <a:pt x="0" y="0"/>
                </a:moveTo>
                <a:lnTo>
                  <a:pt x="228600" y="0"/>
                </a:lnTo>
                <a:lnTo>
                  <a:pt x="228600" y="228600"/>
                </a:lnTo>
                <a:lnTo>
                  <a:pt x="0" y="228600"/>
                </a:lnTo>
                <a:lnTo>
                  <a:pt x="0" y="0"/>
                </a:lnTo>
                <a:close/>
              </a:path>
            </a:pathLst>
          </a:custGeom>
          <a:blipFill rotWithShape="1">
            <a:blip r:embed="rId7">
              <a:alphaModFix/>
            </a:blip>
            <a:stretch>
              <a:fillRect/>
            </a:stretch>
          </a:blipFill>
          <a:ln>
            <a:noFill/>
          </a:ln>
        </p:spPr>
      </p:sp>
      <p:sp>
        <p:nvSpPr>
          <p:cNvPr id="96" name="Google Shape;96;p3"/>
          <p:cNvSpPr/>
          <p:nvPr/>
        </p:nvSpPr>
        <p:spPr>
          <a:xfrm>
            <a:off x="9429750" y="6275283"/>
            <a:ext cx="171449" cy="171449"/>
          </a:xfrm>
          <a:custGeom>
            <a:avLst/>
            <a:gdLst/>
            <a:ahLst/>
            <a:cxnLst/>
            <a:rect l="l" t="t" r="r" b="b"/>
            <a:pathLst>
              <a:path w="228600" h="228600" extrusionOk="0">
                <a:moveTo>
                  <a:pt x="0" y="0"/>
                </a:moveTo>
                <a:lnTo>
                  <a:pt x="228600" y="0"/>
                </a:lnTo>
                <a:lnTo>
                  <a:pt x="228600" y="228600"/>
                </a:lnTo>
                <a:lnTo>
                  <a:pt x="0" y="228600"/>
                </a:lnTo>
                <a:lnTo>
                  <a:pt x="0" y="0"/>
                </a:lnTo>
                <a:close/>
              </a:path>
            </a:pathLst>
          </a:custGeom>
          <a:blipFill rotWithShape="1">
            <a:blip r:embed="rId8">
              <a:alphaModFix/>
            </a:blip>
            <a:stretch>
              <a:fillRect/>
            </a:stretch>
          </a:blipFill>
          <a:ln>
            <a:noFill/>
          </a:ln>
        </p:spPr>
      </p:sp>
      <p:sp>
        <p:nvSpPr>
          <p:cNvPr id="97" name="Google Shape;97;p3"/>
          <p:cNvSpPr txBox="1"/>
          <p:nvPr/>
        </p:nvSpPr>
        <p:spPr>
          <a:xfrm>
            <a:off x="1028700" y="-138527"/>
            <a:ext cx="17467302" cy="2327106"/>
          </a:xfrm>
          <a:prstGeom prst="rect">
            <a:avLst/>
          </a:prstGeom>
          <a:noFill/>
          <a:ln>
            <a:noFill/>
          </a:ln>
        </p:spPr>
        <p:txBody>
          <a:bodyPr spcFirstLastPara="1" wrap="square" lIns="0" tIns="0" rIns="0" bIns="0" anchor="t" anchorCtr="0">
            <a:spAutoFit/>
          </a:bodyPr>
          <a:lstStyle/>
          <a:p>
            <a:pPr marL="0" marR="0" lvl="0" indent="0" algn="l" rtl="0">
              <a:lnSpc>
                <a:spcPct val="183889"/>
              </a:lnSpc>
              <a:spcBef>
                <a:spcPts val="0"/>
              </a:spcBef>
              <a:spcAft>
                <a:spcPts val="0"/>
              </a:spcAft>
              <a:buNone/>
            </a:pPr>
            <a:r>
              <a:rPr lang="en-US" sz="5425" b="1" i="0" u="none" strike="noStrike" cap="none">
                <a:solidFill>
                  <a:srgbClr val="000000"/>
                </a:solidFill>
                <a:latin typeface="Arial"/>
                <a:ea typeface="Arial"/>
                <a:cs typeface="Arial"/>
                <a:sym typeface="Arial"/>
              </a:rPr>
              <a:t>Smart Health Insights:</a:t>
            </a:r>
            <a:endParaRPr/>
          </a:p>
          <a:p>
            <a:pPr marL="0" marR="0" lvl="0" indent="0" algn="l" rtl="0">
              <a:lnSpc>
                <a:spcPct val="183958"/>
              </a:lnSpc>
              <a:spcBef>
                <a:spcPts val="0"/>
              </a:spcBef>
              <a:spcAft>
                <a:spcPts val="0"/>
              </a:spcAft>
              <a:buNone/>
            </a:pPr>
            <a:r>
              <a:rPr lang="en-US" sz="4825" b="1" i="0" u="none" strike="noStrike" cap="none">
                <a:solidFill>
                  <a:srgbClr val="000000"/>
                </a:solidFill>
                <a:latin typeface="Arial"/>
                <a:ea typeface="Arial"/>
                <a:cs typeface="Arial"/>
                <a:sym typeface="Arial"/>
              </a:rPr>
              <a:t>         Disease Prediction Using Data Mining</a:t>
            </a:r>
            <a:endParaRPr/>
          </a:p>
        </p:txBody>
      </p:sp>
      <p:sp>
        <p:nvSpPr>
          <p:cNvPr id="98" name="Google Shape;98;p3"/>
          <p:cNvSpPr txBox="1"/>
          <p:nvPr/>
        </p:nvSpPr>
        <p:spPr>
          <a:xfrm>
            <a:off x="1826666" y="2902655"/>
            <a:ext cx="6588443" cy="50482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300" b="1" i="0" u="none" strike="noStrike" cap="none">
                <a:solidFill>
                  <a:srgbClr val="000000"/>
                </a:solidFill>
                <a:latin typeface="Arial"/>
                <a:ea typeface="Arial"/>
                <a:cs typeface="Arial"/>
                <a:sym typeface="Arial"/>
              </a:rPr>
              <a:t>Project Objectives</a:t>
            </a:r>
            <a:endParaRPr/>
          </a:p>
          <a:p>
            <a:pPr marL="0" marR="0" lvl="0" indent="0" algn="l" rtl="0">
              <a:lnSpc>
                <a:spcPct val="129955"/>
              </a:lnSpc>
              <a:spcBef>
                <a:spcPts val="0"/>
              </a:spcBef>
              <a:spcAft>
                <a:spcPts val="0"/>
              </a:spcAft>
              <a:buNone/>
            </a:pPr>
            <a:r>
              <a:rPr lang="en-US" sz="2250" b="0" i="0" u="none" strike="noStrike" cap="none">
                <a:solidFill>
                  <a:srgbClr val="000000"/>
                </a:solidFill>
                <a:latin typeface="Arial"/>
                <a:ea typeface="Arial"/>
                <a:cs typeface="Arial"/>
                <a:sym typeface="Arial"/>
              </a:rPr>
              <a:t>Aim to build a predictive model for diseases like diabetes and heart disease using data mining and machine learning techniques</a:t>
            </a:r>
            <a:endParaRPr/>
          </a:p>
          <a:p>
            <a:pPr marL="0" marR="0" lvl="0" indent="0" algn="l" rtl="0">
              <a:lnSpc>
                <a:spcPct val="120000"/>
              </a:lnSpc>
              <a:spcBef>
                <a:spcPts val="0"/>
              </a:spcBef>
              <a:spcAft>
                <a:spcPts val="0"/>
              </a:spcAft>
              <a:buNone/>
            </a:pPr>
            <a:endParaRPr sz="225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3300" b="1" i="0" u="none" strike="noStrike" cap="none">
                <a:solidFill>
                  <a:srgbClr val="000000"/>
                </a:solidFill>
                <a:latin typeface="Arial"/>
                <a:ea typeface="Arial"/>
                <a:cs typeface="Arial"/>
                <a:sym typeface="Arial"/>
              </a:rPr>
              <a:t>Motivation and Challenges</a:t>
            </a:r>
            <a:endParaRPr/>
          </a:p>
          <a:p>
            <a:pPr marL="0" marR="0" lvl="0" indent="0" algn="l" rtl="0">
              <a:lnSpc>
                <a:spcPct val="134977"/>
              </a:lnSpc>
              <a:spcBef>
                <a:spcPts val="0"/>
              </a:spcBef>
              <a:spcAft>
                <a:spcPts val="0"/>
              </a:spcAft>
              <a:buNone/>
            </a:pPr>
            <a:r>
              <a:rPr lang="en-US" sz="2250" b="0" i="0" u="none" strike="noStrike" cap="none">
                <a:solidFill>
                  <a:srgbClr val="000000"/>
                </a:solidFill>
                <a:latin typeface="Arial"/>
                <a:ea typeface="Arial"/>
                <a:cs typeface="Arial"/>
                <a:sym typeface="Arial"/>
              </a:rPr>
              <a:t>Discuss the growth of healthcare data, the need for early disease prediction, and the limitations of manual diagnosis</a:t>
            </a:r>
            <a:endParaRPr/>
          </a:p>
          <a:p>
            <a:pPr marL="0" marR="0" lvl="0" indent="0" algn="l" rtl="0">
              <a:lnSpc>
                <a:spcPct val="120000"/>
              </a:lnSpc>
              <a:spcBef>
                <a:spcPts val="0"/>
              </a:spcBef>
              <a:spcAft>
                <a:spcPts val="0"/>
              </a:spcAft>
              <a:buNone/>
            </a:pPr>
            <a:endParaRPr sz="225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3300" b="1" i="0" u="none" strike="noStrike" cap="none">
                <a:solidFill>
                  <a:srgbClr val="000000"/>
                </a:solidFill>
                <a:latin typeface="Arial"/>
                <a:ea typeface="Arial"/>
                <a:cs typeface="Arial"/>
                <a:sym typeface="Arial"/>
              </a:rPr>
              <a:t>Literature Survey</a:t>
            </a:r>
            <a:endParaRPr/>
          </a:p>
          <a:p>
            <a:pPr marL="0" marR="0" lvl="0" indent="0" algn="l" rtl="0">
              <a:lnSpc>
                <a:spcPct val="120008"/>
              </a:lnSpc>
              <a:spcBef>
                <a:spcPts val="0"/>
              </a:spcBef>
              <a:spcAft>
                <a:spcPts val="0"/>
              </a:spcAft>
              <a:buNone/>
            </a:pPr>
            <a:r>
              <a:rPr lang="en-US" sz="2249" b="0" i="0" u="none" strike="noStrike" cap="none">
                <a:solidFill>
                  <a:srgbClr val="000000"/>
                </a:solidFill>
                <a:latin typeface="Arial"/>
                <a:ea typeface="Arial"/>
                <a:cs typeface="Arial"/>
                <a:sym typeface="Arial"/>
              </a:rPr>
              <a:t>Highlight relevant research on applying machine learning algorithms for disease prediction and the gaps in existing approaches</a:t>
            </a:r>
            <a:endParaRPr/>
          </a:p>
        </p:txBody>
      </p:sp>
      <p:sp>
        <p:nvSpPr>
          <p:cNvPr id="99" name="Google Shape;99;p3"/>
          <p:cNvSpPr txBox="1"/>
          <p:nvPr/>
        </p:nvSpPr>
        <p:spPr>
          <a:xfrm>
            <a:off x="9828672" y="2991838"/>
            <a:ext cx="6931343" cy="437911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1" i="0" u="none" strike="noStrike" cap="none">
                <a:solidFill>
                  <a:srgbClr val="000000"/>
                </a:solidFill>
                <a:latin typeface="Arial"/>
                <a:ea typeface="Arial"/>
                <a:cs typeface="Arial"/>
                <a:sym typeface="Arial"/>
              </a:rPr>
              <a:t>Key Issues</a:t>
            </a:r>
            <a:endParaRPr/>
          </a:p>
          <a:p>
            <a:pPr marL="0" marR="0" lvl="0" indent="0" algn="l" rtl="0">
              <a:lnSpc>
                <a:spcPct val="129955"/>
              </a:lnSpc>
              <a:spcBef>
                <a:spcPts val="0"/>
              </a:spcBef>
              <a:spcAft>
                <a:spcPts val="0"/>
              </a:spcAft>
              <a:buNone/>
            </a:pPr>
            <a:r>
              <a:rPr lang="en-US" sz="2250" b="0" i="0" u="none" strike="noStrike" cap="none">
                <a:solidFill>
                  <a:srgbClr val="000000"/>
                </a:solidFill>
                <a:latin typeface="Arial"/>
                <a:ea typeface="Arial"/>
                <a:cs typeface="Arial"/>
                <a:sym typeface="Arial"/>
              </a:rPr>
              <a:t>Outline the challenges in healthcare data, such as imbalance, missing values, and lack of interpretability</a:t>
            </a:r>
            <a:endParaRPr/>
          </a:p>
          <a:p>
            <a:pPr marL="0" marR="0" lvl="0" indent="0" algn="l" rtl="0">
              <a:lnSpc>
                <a:spcPct val="120000"/>
              </a:lnSpc>
              <a:spcBef>
                <a:spcPts val="0"/>
              </a:spcBef>
              <a:spcAft>
                <a:spcPts val="0"/>
              </a:spcAft>
              <a:buNone/>
            </a:pPr>
            <a:endParaRPr sz="225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3300" b="1" i="0" u="none" strike="noStrike" cap="none">
                <a:solidFill>
                  <a:srgbClr val="000000"/>
                </a:solidFill>
                <a:latin typeface="Arial"/>
                <a:ea typeface="Arial"/>
                <a:cs typeface="Arial"/>
                <a:sym typeface="Arial"/>
              </a:rPr>
              <a:t>Proposed Approach</a:t>
            </a:r>
            <a:endParaRPr/>
          </a:p>
          <a:p>
            <a:pPr marL="0" marR="0" lvl="0" indent="0" algn="l" rtl="0">
              <a:lnSpc>
                <a:spcPct val="134977"/>
              </a:lnSpc>
              <a:spcBef>
                <a:spcPts val="0"/>
              </a:spcBef>
              <a:spcAft>
                <a:spcPts val="0"/>
              </a:spcAft>
              <a:buNone/>
            </a:pPr>
            <a:r>
              <a:rPr lang="en-US" sz="2250" b="0" i="0" u="none" strike="noStrike" cap="none">
                <a:solidFill>
                  <a:srgbClr val="000000"/>
                </a:solidFill>
                <a:latin typeface="Arial"/>
                <a:ea typeface="Arial"/>
                <a:cs typeface="Arial"/>
                <a:sym typeface="Arial"/>
              </a:rPr>
              <a:t>Discuss the data preprocessing, model training, and development of a simple user interface for disease predictions</a:t>
            </a:r>
            <a:endParaRPr/>
          </a:p>
          <a:p>
            <a:pPr marL="0" marR="0" lvl="0" indent="0" algn="l" rtl="0">
              <a:lnSpc>
                <a:spcPct val="120000"/>
              </a:lnSpc>
              <a:spcBef>
                <a:spcPts val="0"/>
              </a:spcBef>
              <a:spcAft>
                <a:spcPts val="0"/>
              </a:spcAft>
              <a:buNone/>
            </a:pPr>
            <a:endParaRPr sz="225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3300" b="1" i="0" u="none" strike="noStrike" cap="none">
                <a:solidFill>
                  <a:srgbClr val="000000"/>
                </a:solidFill>
                <a:latin typeface="Arial"/>
                <a:ea typeface="Arial"/>
                <a:cs typeface="Arial"/>
                <a:sym typeface="Arial"/>
              </a:rPr>
              <a:t>Tools and Techniques</a:t>
            </a:r>
            <a:endParaRPr/>
          </a:p>
          <a:p>
            <a:pPr marL="0" marR="0" lvl="0" indent="0" algn="l" rtl="0">
              <a:lnSpc>
                <a:spcPct val="134977"/>
              </a:lnSpc>
              <a:spcBef>
                <a:spcPts val="0"/>
              </a:spcBef>
              <a:spcAft>
                <a:spcPts val="0"/>
              </a:spcAft>
              <a:buNone/>
            </a:pPr>
            <a:r>
              <a:rPr lang="en-US" sz="2250" b="0" i="0" u="none" strike="noStrike" cap="none">
                <a:solidFill>
                  <a:srgbClr val="000000"/>
                </a:solidFill>
                <a:latin typeface="Arial"/>
                <a:ea typeface="Arial"/>
                <a:cs typeface="Arial"/>
                <a:sym typeface="Arial"/>
              </a:rPr>
              <a:t>List the software, hardware, and machine learning algorithms that will be used in the project</a:t>
            </a:r>
            <a:endParaRPr/>
          </a:p>
        </p:txBody>
      </p:sp>
      <p:sp>
        <p:nvSpPr>
          <p:cNvPr id="100" name="Google Shape;100;p3"/>
          <p:cNvSpPr txBox="1"/>
          <p:nvPr/>
        </p:nvSpPr>
        <p:spPr>
          <a:xfrm>
            <a:off x="17840506" y="9651276"/>
            <a:ext cx="137160" cy="3733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025" b="0" i="0" u="none" strike="noStrike" cap="none">
                <a:solidFill>
                  <a:srgbClr val="000000"/>
                </a:solidFill>
                <a:latin typeface="Calibri"/>
                <a:ea typeface="Calibri"/>
                <a:cs typeface="Calibri"/>
                <a:sym typeface="Calibri"/>
              </a:rPr>
              <a:t>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4"/>
          <p:cNvSpPr/>
          <p:nvPr/>
        </p:nvSpPr>
        <p:spPr>
          <a:xfrm>
            <a:off x="11672864" y="714374"/>
            <a:ext cx="5900738" cy="8859202"/>
          </a:xfrm>
          <a:custGeom>
            <a:avLst/>
            <a:gdLst/>
            <a:ahLst/>
            <a:cxnLst/>
            <a:rect l="l" t="t" r="r" b="b"/>
            <a:pathLst>
              <a:path w="7867650" h="11812270" extrusionOk="0">
                <a:moveTo>
                  <a:pt x="0" y="0"/>
                </a:moveTo>
                <a:lnTo>
                  <a:pt x="7867650" y="0"/>
                </a:lnTo>
                <a:lnTo>
                  <a:pt x="7867650" y="11812270"/>
                </a:lnTo>
                <a:lnTo>
                  <a:pt x="0" y="11812270"/>
                </a:lnTo>
                <a:lnTo>
                  <a:pt x="0" y="0"/>
                </a:lnTo>
                <a:close/>
              </a:path>
            </a:pathLst>
          </a:custGeom>
          <a:blipFill rotWithShape="1">
            <a:blip r:embed="rId3">
              <a:alphaModFix/>
            </a:blip>
            <a:stretch>
              <a:fillRect l="-6" r="-5"/>
            </a:stretch>
          </a:blipFill>
          <a:ln>
            <a:noFill/>
          </a:ln>
        </p:spPr>
      </p:sp>
      <p:sp>
        <p:nvSpPr>
          <p:cNvPr id="106" name="Google Shape;106;p4"/>
          <p:cNvSpPr txBox="1"/>
          <p:nvPr/>
        </p:nvSpPr>
        <p:spPr>
          <a:xfrm>
            <a:off x="2759564" y="335972"/>
            <a:ext cx="6005613" cy="1260345"/>
          </a:xfrm>
          <a:prstGeom prst="rect">
            <a:avLst/>
          </a:prstGeom>
          <a:noFill/>
          <a:ln>
            <a:noFill/>
          </a:ln>
        </p:spPr>
        <p:txBody>
          <a:bodyPr spcFirstLastPara="1" wrap="square" lIns="0" tIns="0" rIns="0" bIns="0" anchor="t" anchorCtr="0">
            <a:spAutoFit/>
          </a:bodyPr>
          <a:lstStyle/>
          <a:p>
            <a:pPr marL="0" marR="0" lvl="0" indent="0" algn="ctr" rtl="0">
              <a:lnSpc>
                <a:spcPct val="119985"/>
              </a:lnSpc>
              <a:spcBef>
                <a:spcPts val="0"/>
              </a:spcBef>
              <a:spcAft>
                <a:spcPts val="0"/>
              </a:spcAft>
              <a:buNone/>
            </a:pPr>
            <a:r>
              <a:rPr lang="en-US" sz="6825" b="1" i="0" u="none" strike="noStrike" cap="none" dirty="0">
                <a:solidFill>
                  <a:srgbClr val="333333"/>
                </a:solidFill>
                <a:latin typeface="Arial"/>
                <a:ea typeface="Arial"/>
                <a:cs typeface="Arial"/>
                <a:sym typeface="Arial"/>
              </a:rPr>
              <a:t>Introduction</a:t>
            </a:r>
            <a:endParaRPr dirty="0"/>
          </a:p>
        </p:txBody>
      </p:sp>
      <p:sp>
        <p:nvSpPr>
          <p:cNvPr id="107" name="Google Shape;107;p4"/>
          <p:cNvSpPr txBox="1"/>
          <p:nvPr/>
        </p:nvSpPr>
        <p:spPr>
          <a:xfrm>
            <a:off x="479266" y="1596317"/>
            <a:ext cx="10783199" cy="5953920"/>
          </a:xfrm>
          <a:prstGeom prst="rect">
            <a:avLst/>
          </a:prstGeom>
          <a:noFill/>
          <a:ln>
            <a:noFill/>
          </a:ln>
        </p:spPr>
        <p:txBody>
          <a:bodyPr spcFirstLastPara="1" wrap="square" lIns="0" tIns="0" rIns="0" bIns="0" anchor="t" anchorCtr="0">
            <a:spAutoFit/>
          </a:bodyPr>
          <a:lstStyle/>
          <a:p>
            <a:pPr marL="657410" marR="0" lvl="1" indent="-328705" algn="l" rtl="0">
              <a:lnSpc>
                <a:spcPct val="120006"/>
              </a:lnSpc>
              <a:spcBef>
                <a:spcPts val="0"/>
              </a:spcBef>
              <a:spcAft>
                <a:spcPts val="0"/>
              </a:spcAft>
              <a:buClr>
                <a:srgbClr val="333333"/>
              </a:buClr>
              <a:buSzPts val="3044"/>
              <a:buFont typeface="Arial"/>
              <a:buChar char="•"/>
            </a:pPr>
            <a:r>
              <a:rPr lang="en-US" sz="3044" b="0" i="0" u="none" strike="noStrike" cap="none" dirty="0">
                <a:solidFill>
                  <a:srgbClr val="333333"/>
                </a:solidFill>
                <a:latin typeface="Arial"/>
                <a:ea typeface="Arial"/>
                <a:cs typeface="Arial"/>
                <a:sym typeface="Arial"/>
              </a:rPr>
              <a:t>The healthcare industry is experiencing an unprecedented growth in digital data, with electronic health records, wearable devices, and advanced imaging technologies generating vast amounts of patient information. </a:t>
            </a:r>
            <a:endParaRPr dirty="0"/>
          </a:p>
          <a:p>
            <a:pPr marL="0" marR="0" lvl="0" indent="0" algn="l" rtl="0">
              <a:lnSpc>
                <a:spcPct val="120006"/>
              </a:lnSpc>
              <a:spcBef>
                <a:spcPts val="0"/>
              </a:spcBef>
              <a:spcAft>
                <a:spcPts val="0"/>
              </a:spcAft>
              <a:buNone/>
            </a:pPr>
            <a:endParaRPr sz="3044" b="0" i="0" u="none" strike="noStrike" cap="none" dirty="0">
              <a:solidFill>
                <a:srgbClr val="333333"/>
              </a:solidFill>
              <a:latin typeface="Arial"/>
              <a:ea typeface="Arial"/>
              <a:cs typeface="Arial"/>
              <a:sym typeface="Arial"/>
            </a:endParaRPr>
          </a:p>
          <a:p>
            <a:pPr marL="657410" marR="0" lvl="1" indent="-328705" algn="l" rtl="0">
              <a:lnSpc>
                <a:spcPct val="120006"/>
              </a:lnSpc>
              <a:spcBef>
                <a:spcPts val="0"/>
              </a:spcBef>
              <a:spcAft>
                <a:spcPts val="0"/>
              </a:spcAft>
              <a:buClr>
                <a:srgbClr val="333333"/>
              </a:buClr>
              <a:buSzPts val="3044"/>
              <a:buFont typeface="Arial"/>
              <a:buChar char="•"/>
            </a:pPr>
            <a:r>
              <a:rPr lang="en-US" sz="3044" b="0" i="0" u="none" strike="noStrike" cap="none" dirty="0">
                <a:solidFill>
                  <a:srgbClr val="333333"/>
                </a:solidFill>
                <a:latin typeface="Arial"/>
                <a:ea typeface="Arial"/>
                <a:cs typeface="Arial"/>
                <a:sym typeface="Arial"/>
              </a:rPr>
              <a:t>This explosion of healthcare data presents a significant opportunity to leverage data mining techniques to uncover hidden patterns and insights that can inform early disease prediction. </a:t>
            </a:r>
            <a:endParaRPr dirty="0"/>
          </a:p>
          <a:p>
            <a:pPr marL="0" marR="0" lvl="0" indent="0" algn="l" rtl="0">
              <a:lnSpc>
                <a:spcPct val="120006"/>
              </a:lnSpc>
              <a:spcBef>
                <a:spcPts val="0"/>
              </a:spcBef>
              <a:spcAft>
                <a:spcPts val="0"/>
              </a:spcAft>
              <a:buNone/>
            </a:pPr>
            <a:endParaRPr sz="3044" b="0" i="0" u="none" strike="noStrike" cap="none" dirty="0">
              <a:solidFill>
                <a:srgbClr val="333333"/>
              </a:solidFill>
              <a:latin typeface="Arial"/>
              <a:ea typeface="Arial"/>
              <a:cs typeface="Arial"/>
              <a:sym typeface="Arial"/>
            </a:endParaRPr>
          </a:p>
          <a:p>
            <a:pPr marL="657410" marR="0" lvl="1" indent="-328705" algn="l" rtl="0">
              <a:lnSpc>
                <a:spcPct val="120006"/>
              </a:lnSpc>
              <a:spcBef>
                <a:spcPts val="0"/>
              </a:spcBef>
              <a:spcAft>
                <a:spcPts val="0"/>
              </a:spcAft>
              <a:buClr>
                <a:srgbClr val="333333"/>
              </a:buClr>
              <a:buSzPts val="3044"/>
              <a:buFont typeface="Arial"/>
              <a:buChar char="•"/>
            </a:pPr>
            <a:r>
              <a:rPr lang="en-US" sz="3044" b="0" i="0" u="none" strike="noStrike" cap="none" dirty="0">
                <a:solidFill>
                  <a:srgbClr val="333333"/>
                </a:solidFill>
                <a:latin typeface="Arial"/>
                <a:ea typeface="Arial"/>
                <a:cs typeface="Arial"/>
                <a:sym typeface="Arial"/>
              </a:rPr>
              <a:t>By applying advanced analytics, we can move beyond traditional manual diagnosis methods, which are often slow, error-prone, and struggle to keep up with the complexity of modern healthcare challenges.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5"/>
          <p:cNvSpPr/>
          <p:nvPr/>
        </p:nvSpPr>
        <p:spPr>
          <a:xfrm>
            <a:off x="14244640" y="1628142"/>
            <a:ext cx="585788" cy="257176"/>
          </a:xfrm>
          <a:custGeom>
            <a:avLst/>
            <a:gdLst/>
            <a:ahLst/>
            <a:cxnLst/>
            <a:rect l="l" t="t" r="r" b="b"/>
            <a:pathLst>
              <a:path w="781050" h="342900" extrusionOk="0">
                <a:moveTo>
                  <a:pt x="0" y="0"/>
                </a:moveTo>
                <a:lnTo>
                  <a:pt x="781050" y="0"/>
                </a:lnTo>
                <a:lnTo>
                  <a:pt x="781050" y="342900"/>
                </a:lnTo>
                <a:lnTo>
                  <a:pt x="0" y="342900"/>
                </a:lnTo>
                <a:lnTo>
                  <a:pt x="0" y="0"/>
                </a:lnTo>
                <a:close/>
              </a:path>
            </a:pathLst>
          </a:custGeom>
          <a:blipFill rotWithShape="1">
            <a:blip r:embed="rId3">
              <a:alphaModFix/>
            </a:blip>
            <a:stretch>
              <a:fillRect t="-1021" b="-1019"/>
            </a:stretch>
          </a:blipFill>
          <a:ln>
            <a:noFill/>
          </a:ln>
        </p:spPr>
      </p:sp>
      <p:sp>
        <p:nvSpPr>
          <p:cNvPr id="113" name="Google Shape;113;p5"/>
          <p:cNvSpPr/>
          <p:nvPr/>
        </p:nvSpPr>
        <p:spPr>
          <a:xfrm>
            <a:off x="14830426" y="0"/>
            <a:ext cx="3457574" cy="4286250"/>
          </a:xfrm>
          <a:custGeom>
            <a:avLst/>
            <a:gdLst/>
            <a:ahLst/>
            <a:cxnLst/>
            <a:rect l="l" t="t" r="r" b="b"/>
            <a:pathLst>
              <a:path w="4610100" h="5715000" extrusionOk="0">
                <a:moveTo>
                  <a:pt x="0" y="0"/>
                </a:moveTo>
                <a:lnTo>
                  <a:pt x="4610100" y="0"/>
                </a:lnTo>
                <a:lnTo>
                  <a:pt x="4610100" y="5715000"/>
                </a:lnTo>
                <a:lnTo>
                  <a:pt x="0" y="5715000"/>
                </a:lnTo>
                <a:lnTo>
                  <a:pt x="0" y="0"/>
                </a:lnTo>
                <a:close/>
              </a:path>
            </a:pathLst>
          </a:custGeom>
          <a:blipFill rotWithShape="1">
            <a:blip r:embed="rId4">
              <a:alphaModFix/>
            </a:blip>
            <a:stretch>
              <a:fillRect t="-42" b="-41"/>
            </a:stretch>
          </a:blipFill>
          <a:ln>
            <a:noFill/>
          </a:ln>
        </p:spPr>
      </p:sp>
      <p:sp>
        <p:nvSpPr>
          <p:cNvPr id="114" name="Google Shape;114;p5"/>
          <p:cNvSpPr txBox="1"/>
          <p:nvPr/>
        </p:nvSpPr>
        <p:spPr>
          <a:xfrm>
            <a:off x="888274" y="347307"/>
            <a:ext cx="12618720" cy="1163395"/>
          </a:xfrm>
          <a:prstGeom prst="rect">
            <a:avLst/>
          </a:prstGeom>
          <a:noFill/>
          <a:ln>
            <a:noFill/>
          </a:ln>
        </p:spPr>
        <p:txBody>
          <a:bodyPr spcFirstLastPara="1" wrap="square" lIns="0" tIns="0" rIns="0" bIns="0" anchor="t" anchorCtr="0">
            <a:spAutoFit/>
          </a:bodyPr>
          <a:lstStyle/>
          <a:p>
            <a:pPr marL="0" marR="0" lvl="0" indent="0" algn="ctr" rtl="0">
              <a:lnSpc>
                <a:spcPct val="119984"/>
              </a:lnSpc>
              <a:spcBef>
                <a:spcPts val="0"/>
              </a:spcBef>
              <a:spcAft>
                <a:spcPts val="0"/>
              </a:spcAft>
              <a:buNone/>
            </a:pPr>
            <a:r>
              <a:rPr lang="en-US" sz="6300" b="1" i="0" u="none" strike="noStrike" cap="none" dirty="0">
                <a:solidFill>
                  <a:srgbClr val="000000"/>
                </a:solidFill>
                <a:latin typeface="Arial"/>
                <a:ea typeface="Arial"/>
                <a:cs typeface="Arial"/>
                <a:sym typeface="Arial"/>
              </a:rPr>
              <a:t>MOTIVATION</a:t>
            </a:r>
            <a:endParaRPr dirty="0"/>
          </a:p>
        </p:txBody>
      </p:sp>
      <p:sp>
        <p:nvSpPr>
          <p:cNvPr id="115" name="Google Shape;115;p5"/>
          <p:cNvSpPr txBox="1"/>
          <p:nvPr/>
        </p:nvSpPr>
        <p:spPr>
          <a:xfrm>
            <a:off x="626085" y="1567220"/>
            <a:ext cx="14434827" cy="6800850"/>
          </a:xfrm>
          <a:prstGeom prst="rect">
            <a:avLst/>
          </a:prstGeom>
          <a:noFill/>
          <a:ln>
            <a:noFill/>
          </a:ln>
        </p:spPr>
        <p:txBody>
          <a:bodyPr spcFirstLastPara="1" wrap="square" lIns="0" tIns="0" rIns="0" bIns="0" anchor="t" anchorCtr="0">
            <a:spAutoFit/>
          </a:bodyPr>
          <a:lstStyle/>
          <a:p>
            <a:pPr marL="701670" marR="0" lvl="1" indent="-350835" algn="l" rtl="0">
              <a:lnSpc>
                <a:spcPct val="120006"/>
              </a:lnSpc>
              <a:spcBef>
                <a:spcPts val="0"/>
              </a:spcBef>
              <a:spcAft>
                <a:spcPts val="0"/>
              </a:spcAft>
              <a:buClr>
                <a:srgbClr val="000000"/>
              </a:buClr>
              <a:buSzPts val="3249"/>
              <a:buFont typeface="Arial"/>
              <a:buChar char="•"/>
            </a:pPr>
            <a:r>
              <a:rPr lang="en-US" sz="3249" b="0" i="0" u="none" strike="noStrike" cap="none" dirty="0">
                <a:solidFill>
                  <a:srgbClr val="000000"/>
                </a:solidFill>
                <a:latin typeface="Arial"/>
                <a:ea typeface="Arial"/>
                <a:cs typeface="Arial"/>
                <a:sym typeface="Arial"/>
              </a:rPr>
              <a:t>Heart disease is the leading cause of death globally, accounting for millions of deaths each year.</a:t>
            </a:r>
            <a:endParaRPr dirty="0"/>
          </a:p>
          <a:p>
            <a:pPr marL="0" marR="0" lvl="0" indent="0" algn="l" rtl="0">
              <a:lnSpc>
                <a:spcPct val="120006"/>
              </a:lnSpc>
              <a:spcBef>
                <a:spcPts val="0"/>
              </a:spcBef>
              <a:spcAft>
                <a:spcPts val="0"/>
              </a:spcAft>
              <a:buNone/>
            </a:pPr>
            <a:endParaRPr sz="3249" b="0" i="0" u="none" strike="noStrike" cap="none" dirty="0">
              <a:solidFill>
                <a:srgbClr val="000000"/>
              </a:solidFill>
              <a:latin typeface="Arial"/>
              <a:ea typeface="Arial"/>
              <a:cs typeface="Arial"/>
              <a:sym typeface="Arial"/>
            </a:endParaRPr>
          </a:p>
          <a:p>
            <a:pPr marL="701670" marR="0" lvl="1" indent="-350835" algn="l" rtl="0">
              <a:lnSpc>
                <a:spcPct val="120006"/>
              </a:lnSpc>
              <a:spcBef>
                <a:spcPts val="0"/>
              </a:spcBef>
              <a:spcAft>
                <a:spcPts val="0"/>
              </a:spcAft>
              <a:buClr>
                <a:srgbClr val="000000"/>
              </a:buClr>
              <a:buSzPts val="3249"/>
              <a:buFont typeface="Arial"/>
              <a:buChar char="•"/>
            </a:pPr>
            <a:r>
              <a:rPr lang="en-US" sz="3249" b="0" i="0" u="none" strike="noStrike" cap="none" dirty="0">
                <a:solidFill>
                  <a:srgbClr val="000000"/>
                </a:solidFill>
                <a:latin typeface="Arial"/>
                <a:ea typeface="Arial"/>
                <a:cs typeface="Arial"/>
                <a:sym typeface="Arial"/>
              </a:rPr>
              <a:t>Coronary Artery Disease (CAD) is one of the most common and dangerous forms of heart disease.</a:t>
            </a:r>
            <a:endParaRPr dirty="0"/>
          </a:p>
          <a:p>
            <a:pPr marL="0" marR="0" lvl="0" indent="0" algn="l" rtl="0">
              <a:lnSpc>
                <a:spcPct val="120006"/>
              </a:lnSpc>
              <a:spcBef>
                <a:spcPts val="0"/>
              </a:spcBef>
              <a:spcAft>
                <a:spcPts val="0"/>
              </a:spcAft>
              <a:buNone/>
            </a:pPr>
            <a:endParaRPr sz="3249" b="0" i="0" u="none" strike="noStrike" cap="none" dirty="0">
              <a:solidFill>
                <a:srgbClr val="000000"/>
              </a:solidFill>
              <a:latin typeface="Arial"/>
              <a:ea typeface="Arial"/>
              <a:cs typeface="Arial"/>
              <a:sym typeface="Arial"/>
            </a:endParaRPr>
          </a:p>
          <a:p>
            <a:pPr marL="701670" marR="0" lvl="1" indent="-350835" algn="l" rtl="0">
              <a:lnSpc>
                <a:spcPct val="120006"/>
              </a:lnSpc>
              <a:spcBef>
                <a:spcPts val="0"/>
              </a:spcBef>
              <a:spcAft>
                <a:spcPts val="0"/>
              </a:spcAft>
              <a:buClr>
                <a:srgbClr val="000000"/>
              </a:buClr>
              <a:buSzPts val="3249"/>
              <a:buFont typeface="Arial"/>
              <a:buChar char="•"/>
            </a:pPr>
            <a:r>
              <a:rPr lang="en-US" sz="3249" b="0" i="0" u="none" strike="noStrike" cap="none" dirty="0">
                <a:solidFill>
                  <a:srgbClr val="000000"/>
                </a:solidFill>
                <a:latin typeface="Arial"/>
                <a:ea typeface="Arial"/>
                <a:cs typeface="Arial"/>
                <a:sym typeface="Arial"/>
              </a:rPr>
              <a:t>CAD often remains undiagnosed until a major cardiac event occurs, such as a heart attack.</a:t>
            </a:r>
            <a:endParaRPr dirty="0"/>
          </a:p>
          <a:p>
            <a:pPr marL="0" marR="0" lvl="0" indent="0" algn="l" rtl="0">
              <a:lnSpc>
                <a:spcPct val="120006"/>
              </a:lnSpc>
              <a:spcBef>
                <a:spcPts val="0"/>
              </a:spcBef>
              <a:spcAft>
                <a:spcPts val="0"/>
              </a:spcAft>
              <a:buNone/>
            </a:pPr>
            <a:endParaRPr sz="3249" b="0" i="0" u="none" strike="noStrike" cap="none" dirty="0">
              <a:solidFill>
                <a:srgbClr val="000000"/>
              </a:solidFill>
              <a:latin typeface="Arial"/>
              <a:ea typeface="Arial"/>
              <a:cs typeface="Arial"/>
              <a:sym typeface="Arial"/>
            </a:endParaRPr>
          </a:p>
          <a:p>
            <a:pPr marL="701670" marR="0" lvl="1" indent="-350835" algn="l" rtl="0">
              <a:lnSpc>
                <a:spcPct val="120006"/>
              </a:lnSpc>
              <a:spcBef>
                <a:spcPts val="0"/>
              </a:spcBef>
              <a:spcAft>
                <a:spcPts val="0"/>
              </a:spcAft>
              <a:buClr>
                <a:srgbClr val="000000"/>
              </a:buClr>
              <a:buSzPts val="3249"/>
              <a:buFont typeface="Arial"/>
              <a:buChar char="•"/>
            </a:pPr>
            <a:r>
              <a:rPr lang="en-US" sz="3249" b="0" i="0" u="none" strike="noStrike" cap="none" dirty="0">
                <a:solidFill>
                  <a:srgbClr val="000000"/>
                </a:solidFill>
                <a:latin typeface="Arial"/>
                <a:ea typeface="Arial"/>
                <a:cs typeface="Arial"/>
                <a:sym typeface="Arial"/>
              </a:rPr>
              <a:t>Early prediction and prevention are key to reducing mortality and improving patient outcomes</a:t>
            </a:r>
            <a:endParaRPr dirty="0"/>
          </a:p>
          <a:p>
            <a:pPr marL="0" marR="0" lvl="0" indent="0" algn="l" rtl="0">
              <a:lnSpc>
                <a:spcPct val="120006"/>
              </a:lnSpc>
              <a:spcBef>
                <a:spcPts val="0"/>
              </a:spcBef>
              <a:spcAft>
                <a:spcPts val="0"/>
              </a:spcAft>
              <a:buNone/>
            </a:pPr>
            <a:endParaRPr sz="3249" b="0" i="0" u="none" strike="noStrike" cap="none" dirty="0">
              <a:solidFill>
                <a:srgbClr val="000000"/>
              </a:solidFill>
              <a:latin typeface="Arial"/>
              <a:ea typeface="Arial"/>
              <a:cs typeface="Arial"/>
              <a:sym typeface="Arial"/>
            </a:endParaRPr>
          </a:p>
          <a:p>
            <a:pPr marL="701670" marR="0" lvl="1" indent="-350835" algn="l" rtl="0">
              <a:lnSpc>
                <a:spcPct val="120006"/>
              </a:lnSpc>
              <a:spcBef>
                <a:spcPts val="0"/>
              </a:spcBef>
              <a:spcAft>
                <a:spcPts val="0"/>
              </a:spcAft>
              <a:buClr>
                <a:srgbClr val="000000"/>
              </a:buClr>
              <a:buSzPts val="3249"/>
              <a:buFont typeface="Arial"/>
              <a:buChar char="•"/>
            </a:pPr>
            <a:r>
              <a:rPr lang="en-US" sz="3249" b="0" i="0" u="none" strike="noStrike" cap="none" dirty="0">
                <a:solidFill>
                  <a:srgbClr val="000000"/>
                </a:solidFill>
                <a:latin typeface="Arial"/>
                <a:ea typeface="Arial"/>
                <a:cs typeface="Arial"/>
                <a:sym typeface="Arial"/>
              </a:rPr>
              <a:t>Machine Learning offers a promising solution by analyzing medical data to identify high-risk individuals early.</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6"/>
          <p:cNvSpPr/>
          <p:nvPr/>
        </p:nvSpPr>
        <p:spPr>
          <a:xfrm>
            <a:off x="-152400" y="-106680"/>
            <a:ext cx="18488025" cy="10422255"/>
          </a:xfrm>
          <a:custGeom>
            <a:avLst/>
            <a:gdLst/>
            <a:ahLst/>
            <a:cxnLst/>
            <a:rect l="l" t="t" r="r" b="b"/>
            <a:pathLst>
              <a:path w="24384000" h="13716000" extrusionOk="0">
                <a:moveTo>
                  <a:pt x="24384000" y="13716000"/>
                </a:moveTo>
                <a:lnTo>
                  <a:pt x="0" y="13716000"/>
                </a:lnTo>
                <a:lnTo>
                  <a:pt x="0" y="0"/>
                </a:lnTo>
                <a:lnTo>
                  <a:pt x="24384000" y="0"/>
                </a:lnTo>
                <a:lnTo>
                  <a:pt x="24384000" y="13716000"/>
                </a:lnTo>
                <a:close/>
              </a:path>
            </a:pathLst>
          </a:custGeom>
          <a:solidFill>
            <a:srgbClr val="212121"/>
          </a:solidFill>
          <a:ln w="12700" cap="flat" cmpd="sng">
            <a:solidFill>
              <a:srgbClr val="000000"/>
            </a:solidFill>
            <a:prstDash val="solid"/>
            <a:round/>
            <a:headEnd type="none" w="sm" len="sm"/>
            <a:tailEnd type="none" w="sm" len="sm"/>
          </a:ln>
        </p:spPr>
        <p:txBody>
          <a:bodyPr/>
          <a:lstStyle/>
          <a:p>
            <a:endParaRPr lang="en-IN" dirty="0"/>
          </a:p>
        </p:txBody>
      </p:sp>
      <p:sp>
        <p:nvSpPr>
          <p:cNvPr id="121" name="Google Shape;121;p6"/>
          <p:cNvSpPr/>
          <p:nvPr/>
        </p:nvSpPr>
        <p:spPr>
          <a:xfrm>
            <a:off x="823054" y="2639285"/>
            <a:ext cx="185738" cy="185738"/>
          </a:xfrm>
          <a:custGeom>
            <a:avLst/>
            <a:gdLst/>
            <a:ahLst/>
            <a:cxnLst/>
            <a:rect l="l" t="t" r="r" b="b"/>
            <a:pathLst>
              <a:path w="247650" h="247650" extrusionOk="0">
                <a:moveTo>
                  <a:pt x="0" y="0"/>
                </a:moveTo>
                <a:lnTo>
                  <a:pt x="247650" y="0"/>
                </a:lnTo>
                <a:lnTo>
                  <a:pt x="247650" y="247650"/>
                </a:lnTo>
                <a:lnTo>
                  <a:pt x="0" y="247650"/>
                </a:lnTo>
                <a:lnTo>
                  <a:pt x="0" y="0"/>
                </a:lnTo>
                <a:close/>
              </a:path>
            </a:pathLst>
          </a:custGeom>
          <a:blipFill rotWithShape="1">
            <a:blip r:embed="rId3">
              <a:alphaModFix/>
            </a:blip>
            <a:stretch>
              <a:fillRect/>
            </a:stretch>
          </a:blipFill>
          <a:ln>
            <a:noFill/>
          </a:ln>
        </p:spPr>
      </p:sp>
      <p:sp>
        <p:nvSpPr>
          <p:cNvPr id="122" name="Google Shape;122;p6"/>
          <p:cNvSpPr/>
          <p:nvPr/>
        </p:nvSpPr>
        <p:spPr>
          <a:xfrm>
            <a:off x="842963" y="4380252"/>
            <a:ext cx="185738" cy="185737"/>
          </a:xfrm>
          <a:custGeom>
            <a:avLst/>
            <a:gdLst/>
            <a:ahLst/>
            <a:cxnLst/>
            <a:rect l="l" t="t" r="r" b="b"/>
            <a:pathLst>
              <a:path w="247650" h="247650" extrusionOk="0">
                <a:moveTo>
                  <a:pt x="0" y="0"/>
                </a:moveTo>
                <a:lnTo>
                  <a:pt x="247650" y="0"/>
                </a:lnTo>
                <a:lnTo>
                  <a:pt x="247650" y="247650"/>
                </a:lnTo>
                <a:lnTo>
                  <a:pt x="0" y="247650"/>
                </a:lnTo>
                <a:lnTo>
                  <a:pt x="0" y="0"/>
                </a:lnTo>
                <a:close/>
              </a:path>
            </a:pathLst>
          </a:custGeom>
          <a:blipFill rotWithShape="1">
            <a:blip r:embed="rId4">
              <a:alphaModFix/>
            </a:blip>
            <a:stretch>
              <a:fillRect t="-6" b="5"/>
            </a:stretch>
          </a:blipFill>
          <a:ln>
            <a:noFill/>
          </a:ln>
        </p:spPr>
      </p:sp>
      <p:sp>
        <p:nvSpPr>
          <p:cNvPr id="123" name="Google Shape;123;p6"/>
          <p:cNvSpPr/>
          <p:nvPr/>
        </p:nvSpPr>
        <p:spPr>
          <a:xfrm>
            <a:off x="821578" y="6121218"/>
            <a:ext cx="185738" cy="185737"/>
          </a:xfrm>
          <a:custGeom>
            <a:avLst/>
            <a:gdLst/>
            <a:ahLst/>
            <a:cxnLst/>
            <a:rect l="l" t="t" r="r" b="b"/>
            <a:pathLst>
              <a:path w="247650" h="247650" extrusionOk="0">
                <a:moveTo>
                  <a:pt x="0" y="0"/>
                </a:moveTo>
                <a:lnTo>
                  <a:pt x="247650" y="0"/>
                </a:lnTo>
                <a:lnTo>
                  <a:pt x="247650" y="247650"/>
                </a:lnTo>
                <a:lnTo>
                  <a:pt x="0" y="247650"/>
                </a:lnTo>
                <a:lnTo>
                  <a:pt x="0" y="0"/>
                </a:lnTo>
                <a:close/>
              </a:path>
            </a:pathLst>
          </a:custGeom>
          <a:blipFill rotWithShape="1">
            <a:blip r:embed="rId5">
              <a:alphaModFix/>
            </a:blip>
            <a:stretch>
              <a:fillRect t="-6" b="5"/>
            </a:stretch>
          </a:blipFill>
          <a:ln>
            <a:noFill/>
          </a:ln>
        </p:spPr>
      </p:sp>
      <p:sp>
        <p:nvSpPr>
          <p:cNvPr id="124" name="Google Shape;124;p6"/>
          <p:cNvSpPr/>
          <p:nvPr/>
        </p:nvSpPr>
        <p:spPr>
          <a:xfrm>
            <a:off x="844439" y="7688238"/>
            <a:ext cx="185738" cy="185738"/>
          </a:xfrm>
          <a:custGeom>
            <a:avLst/>
            <a:gdLst/>
            <a:ahLst/>
            <a:cxnLst/>
            <a:rect l="l" t="t" r="r" b="b"/>
            <a:pathLst>
              <a:path w="247650" h="247650" extrusionOk="0">
                <a:moveTo>
                  <a:pt x="0" y="0"/>
                </a:moveTo>
                <a:lnTo>
                  <a:pt x="247650" y="0"/>
                </a:lnTo>
                <a:lnTo>
                  <a:pt x="247650" y="247650"/>
                </a:lnTo>
                <a:lnTo>
                  <a:pt x="0" y="247650"/>
                </a:lnTo>
                <a:lnTo>
                  <a:pt x="0" y="0"/>
                </a:lnTo>
                <a:close/>
              </a:path>
            </a:pathLst>
          </a:custGeom>
          <a:blipFill rotWithShape="1">
            <a:blip r:embed="rId6">
              <a:alphaModFix/>
            </a:blip>
            <a:stretch>
              <a:fillRect/>
            </a:stretch>
          </a:blipFill>
          <a:ln>
            <a:noFill/>
          </a:ln>
        </p:spPr>
      </p:sp>
      <p:sp>
        <p:nvSpPr>
          <p:cNvPr id="125" name="Google Shape;125;p6"/>
          <p:cNvSpPr txBox="1"/>
          <p:nvPr/>
        </p:nvSpPr>
        <p:spPr>
          <a:xfrm>
            <a:off x="1121570" y="331141"/>
            <a:ext cx="16554366" cy="1232645"/>
          </a:xfrm>
          <a:prstGeom prst="rect">
            <a:avLst/>
          </a:prstGeom>
          <a:noFill/>
          <a:ln>
            <a:noFill/>
          </a:ln>
        </p:spPr>
        <p:txBody>
          <a:bodyPr spcFirstLastPara="1" wrap="square" lIns="0" tIns="0" rIns="0" bIns="0" anchor="t" anchorCtr="0">
            <a:spAutoFit/>
          </a:bodyPr>
          <a:lstStyle/>
          <a:p>
            <a:pPr marL="0" marR="0" lvl="0" indent="0" algn="ctr" rtl="0">
              <a:lnSpc>
                <a:spcPct val="119985"/>
              </a:lnSpc>
              <a:spcBef>
                <a:spcPts val="0"/>
              </a:spcBef>
              <a:spcAft>
                <a:spcPts val="0"/>
              </a:spcAft>
              <a:buNone/>
            </a:pPr>
            <a:r>
              <a:rPr lang="en-US" sz="6675" b="1" i="0" u="none" strike="noStrike" cap="none" dirty="0">
                <a:solidFill>
                  <a:srgbClr val="FFFFFF"/>
                </a:solidFill>
                <a:latin typeface="Arial"/>
                <a:ea typeface="Arial"/>
                <a:cs typeface="Arial"/>
                <a:sym typeface="Arial"/>
              </a:rPr>
              <a:t>Objectives</a:t>
            </a:r>
            <a:endParaRPr dirty="0"/>
          </a:p>
        </p:txBody>
      </p:sp>
      <p:sp>
        <p:nvSpPr>
          <p:cNvPr id="126" name="Google Shape;126;p6"/>
          <p:cNvSpPr txBox="1"/>
          <p:nvPr/>
        </p:nvSpPr>
        <p:spPr>
          <a:xfrm>
            <a:off x="1364978" y="7066095"/>
            <a:ext cx="16394732" cy="1244287"/>
          </a:xfrm>
          <a:prstGeom prst="rect">
            <a:avLst/>
          </a:prstGeom>
          <a:noFill/>
          <a:ln>
            <a:noFill/>
          </a:ln>
        </p:spPr>
        <p:txBody>
          <a:bodyPr spcFirstLastPara="1" wrap="square" lIns="0" tIns="0" rIns="0" bIns="0" anchor="t" anchorCtr="0">
            <a:spAutoFit/>
          </a:bodyPr>
          <a:lstStyle/>
          <a:p>
            <a:pPr marL="0" marR="0" lvl="0" indent="0" algn="l" rtl="0">
              <a:lnSpc>
                <a:spcPct val="145000"/>
              </a:lnSpc>
              <a:spcBef>
                <a:spcPts val="0"/>
              </a:spcBef>
              <a:spcAft>
                <a:spcPts val="0"/>
              </a:spcAft>
              <a:buNone/>
            </a:pPr>
            <a:endParaRPr sz="1800" b="0" i="0" u="none" strike="noStrike" cap="none" dirty="0">
              <a:solidFill>
                <a:schemeClr val="dk1"/>
              </a:solidFill>
              <a:latin typeface="Calibri"/>
              <a:ea typeface="Calibri"/>
              <a:cs typeface="Calibri"/>
              <a:sym typeface="Calibri"/>
            </a:endParaRPr>
          </a:p>
          <a:p>
            <a:pPr marL="0" marR="0" lvl="0" indent="0" algn="l" rtl="0">
              <a:lnSpc>
                <a:spcPct val="120000"/>
              </a:lnSpc>
              <a:spcBef>
                <a:spcPts val="0"/>
              </a:spcBef>
              <a:spcAft>
                <a:spcPts val="0"/>
              </a:spcAft>
              <a:buNone/>
            </a:pPr>
            <a:r>
              <a:rPr lang="en-US" sz="3450" b="1" i="0" u="none" strike="noStrike" cap="none" dirty="0">
                <a:solidFill>
                  <a:srgbClr val="FFFFFF"/>
                </a:solidFill>
                <a:latin typeface="Arial"/>
                <a:ea typeface="Arial"/>
                <a:cs typeface="Arial"/>
                <a:sym typeface="Arial"/>
              </a:rPr>
              <a:t>Provide explainable, reliable results</a:t>
            </a:r>
            <a:endParaRPr dirty="0"/>
          </a:p>
          <a:p>
            <a:pPr marL="0" marR="0" lvl="0" indent="0" algn="l" rtl="0">
              <a:lnSpc>
                <a:spcPct val="136275"/>
              </a:lnSpc>
              <a:spcBef>
                <a:spcPts val="0"/>
              </a:spcBef>
              <a:spcAft>
                <a:spcPts val="0"/>
              </a:spcAft>
              <a:buNone/>
            </a:pPr>
            <a:r>
              <a:rPr lang="en-US" sz="2175" b="0" i="0" u="none" strike="noStrike" cap="none" dirty="0">
                <a:solidFill>
                  <a:srgbClr val="FFFFFF"/>
                </a:solidFill>
                <a:latin typeface="Calibri"/>
                <a:ea typeface="Calibri"/>
                <a:cs typeface="Calibri"/>
                <a:sym typeface="Calibri"/>
              </a:rPr>
              <a:t>Ensure the model outputs are interpretable and trustworthy, making it easier for healthcare professionals to adopt the system.</a:t>
            </a:r>
            <a:endParaRPr dirty="0"/>
          </a:p>
        </p:txBody>
      </p:sp>
      <p:sp>
        <p:nvSpPr>
          <p:cNvPr id="127" name="Google Shape;127;p6"/>
          <p:cNvSpPr txBox="1"/>
          <p:nvPr/>
        </p:nvSpPr>
        <p:spPr>
          <a:xfrm>
            <a:off x="1281204" y="2406338"/>
            <a:ext cx="16394732" cy="5143139"/>
          </a:xfrm>
          <a:prstGeom prst="rect">
            <a:avLst/>
          </a:prstGeom>
          <a:noFill/>
          <a:ln>
            <a:noFill/>
          </a:ln>
        </p:spPr>
        <p:txBody>
          <a:bodyPr spcFirstLastPara="1" wrap="square" lIns="0" tIns="0" rIns="0" bIns="0" anchor="t" anchorCtr="0">
            <a:spAutoFit/>
          </a:bodyPr>
          <a:lstStyle/>
          <a:p>
            <a:pPr marL="0" marR="0" lvl="0" indent="0" algn="l" rtl="0">
              <a:lnSpc>
                <a:spcPct val="110881"/>
              </a:lnSpc>
              <a:spcBef>
                <a:spcPts val="0"/>
              </a:spcBef>
              <a:spcAft>
                <a:spcPts val="0"/>
              </a:spcAft>
              <a:buNone/>
            </a:pPr>
            <a:r>
              <a:rPr lang="en-US" sz="4016" b="1" i="0" u="none" strike="noStrike" cap="none" dirty="0">
                <a:solidFill>
                  <a:srgbClr val="FFFFFF"/>
                </a:solidFill>
                <a:latin typeface="Arial"/>
                <a:ea typeface="Arial"/>
                <a:cs typeface="Arial"/>
                <a:sym typeface="Arial"/>
              </a:rPr>
              <a:t>Collect and preprocess datasets (Diabetes, Heart Disease)</a:t>
            </a:r>
            <a:endParaRPr dirty="0"/>
          </a:p>
          <a:p>
            <a:pPr marL="0" marR="0" lvl="0" indent="0" algn="l" rtl="0">
              <a:lnSpc>
                <a:spcPct val="136295"/>
              </a:lnSpc>
              <a:spcBef>
                <a:spcPts val="0"/>
              </a:spcBef>
              <a:spcAft>
                <a:spcPts val="0"/>
              </a:spcAft>
              <a:buNone/>
            </a:pPr>
            <a:r>
              <a:rPr lang="en-US" sz="2532" b="0" i="0" u="none" strike="noStrike" cap="none" dirty="0">
                <a:solidFill>
                  <a:srgbClr val="FFFFFF"/>
                </a:solidFill>
                <a:latin typeface="Calibri"/>
                <a:ea typeface="Calibri"/>
                <a:cs typeface="Calibri"/>
                <a:sym typeface="Calibri"/>
              </a:rPr>
              <a:t>Gather  health care datasets, clean  and  handle  missing  values, and  balance  the  data  to  prepare for modeling.</a:t>
            </a:r>
            <a:endParaRPr dirty="0"/>
          </a:p>
          <a:p>
            <a:pPr marL="0" marR="0" lvl="0" indent="0" algn="l" rtl="0">
              <a:lnSpc>
                <a:spcPct val="136295"/>
              </a:lnSpc>
              <a:spcBef>
                <a:spcPts val="0"/>
              </a:spcBef>
              <a:spcAft>
                <a:spcPts val="0"/>
              </a:spcAft>
              <a:buNone/>
            </a:pPr>
            <a:endParaRPr sz="2532" b="0" i="0" u="none" strike="noStrike" cap="none" dirty="0">
              <a:solidFill>
                <a:srgbClr val="FFFFFF"/>
              </a:solidFill>
              <a:latin typeface="Calibri"/>
              <a:ea typeface="Calibri"/>
              <a:cs typeface="Calibri"/>
              <a:sym typeface="Calibri"/>
            </a:endParaRPr>
          </a:p>
          <a:p>
            <a:pPr marL="0" marR="0" lvl="0" indent="0" algn="l" rtl="0">
              <a:lnSpc>
                <a:spcPct val="119995"/>
              </a:lnSpc>
              <a:spcBef>
                <a:spcPts val="0"/>
              </a:spcBef>
              <a:spcAft>
                <a:spcPts val="0"/>
              </a:spcAft>
              <a:buNone/>
            </a:pPr>
            <a:r>
              <a:rPr lang="en-US" sz="4016" b="1" i="0" u="none" strike="noStrike" cap="none" dirty="0">
                <a:solidFill>
                  <a:srgbClr val="FFFFFF"/>
                </a:solidFill>
                <a:latin typeface="Arial"/>
                <a:ea typeface="Arial"/>
                <a:cs typeface="Arial"/>
                <a:sym typeface="Arial"/>
              </a:rPr>
              <a:t>Apply DT, RF, SVM, LR </a:t>
            </a:r>
            <a:endParaRPr dirty="0"/>
          </a:p>
          <a:p>
            <a:pPr marL="0" marR="0" lvl="0" indent="0" algn="just" rtl="0">
              <a:lnSpc>
                <a:spcPct val="139968"/>
              </a:lnSpc>
              <a:spcBef>
                <a:spcPts val="0"/>
              </a:spcBef>
              <a:spcAft>
                <a:spcPts val="0"/>
              </a:spcAft>
              <a:buNone/>
            </a:pPr>
            <a:r>
              <a:rPr lang="en-US" sz="2532" b="0" i="0" u="none" strike="noStrike" cap="none" dirty="0">
                <a:solidFill>
                  <a:srgbClr val="FFFFFF"/>
                </a:solidFill>
                <a:latin typeface="Calibri"/>
                <a:ea typeface="Calibri"/>
                <a:cs typeface="Calibri"/>
                <a:sym typeface="Calibri"/>
              </a:rPr>
              <a:t>Implement  and  evaluate a range of machine learning algorithms, including Decision Trees, Random Forest, Support Vector Machines,  Logistic regression and KNN</a:t>
            </a:r>
            <a:endParaRPr dirty="0"/>
          </a:p>
          <a:p>
            <a:pPr marL="0" marR="0" lvl="0" indent="0" algn="l" rtl="0">
              <a:lnSpc>
                <a:spcPct val="119995"/>
              </a:lnSpc>
              <a:spcBef>
                <a:spcPts val="0"/>
              </a:spcBef>
              <a:spcAft>
                <a:spcPts val="0"/>
              </a:spcAft>
              <a:buNone/>
            </a:pPr>
            <a:r>
              <a:rPr lang="en-US" sz="4016" b="1" i="0" u="none" strike="noStrike" cap="none" dirty="0">
                <a:solidFill>
                  <a:srgbClr val="FFFFFF"/>
                </a:solidFill>
                <a:latin typeface="Arial"/>
                <a:ea typeface="Arial"/>
                <a:cs typeface="Arial"/>
                <a:sym typeface="Arial"/>
              </a:rPr>
              <a:t>Compare models &amp; select best</a:t>
            </a:r>
            <a:endParaRPr dirty="0"/>
          </a:p>
          <a:p>
            <a:pPr marL="0" marR="0" lvl="0" indent="0" algn="l" rtl="0">
              <a:lnSpc>
                <a:spcPct val="136295"/>
              </a:lnSpc>
              <a:spcBef>
                <a:spcPts val="0"/>
              </a:spcBef>
              <a:spcAft>
                <a:spcPts val="0"/>
              </a:spcAft>
              <a:buNone/>
            </a:pPr>
            <a:r>
              <a:rPr lang="en-US" sz="2532" b="0" i="0" u="none" strike="noStrike" cap="none" dirty="0">
                <a:solidFill>
                  <a:srgbClr val="FFFFFF"/>
                </a:solidFill>
                <a:latin typeface="Calibri"/>
                <a:ea typeface="Calibri"/>
                <a:cs typeface="Calibri"/>
                <a:sym typeface="Calibri"/>
              </a:rPr>
              <a:t>Analyze  the  performance of  the  models  and  select  the  most  accurate  and interpretable  one  for  the  final  deployment.</a:t>
            </a:r>
          </a:p>
          <a:p>
            <a:pPr marL="0" marR="0" lvl="0" indent="0" algn="l" rtl="0">
              <a:lnSpc>
                <a:spcPct val="136295"/>
              </a:lnSpc>
              <a:spcBef>
                <a:spcPts val="0"/>
              </a:spcBef>
              <a:spcAft>
                <a:spcPts val="0"/>
              </a:spcAft>
              <a:buNone/>
            </a:pPr>
            <a:endParaRPr dirty="0"/>
          </a:p>
        </p:txBody>
      </p:sp>
      <p:sp>
        <p:nvSpPr>
          <p:cNvPr id="128" name="Google Shape;128;p6"/>
          <p:cNvSpPr txBox="1"/>
          <p:nvPr/>
        </p:nvSpPr>
        <p:spPr>
          <a:xfrm>
            <a:off x="17835570" y="9651276"/>
            <a:ext cx="139065" cy="3733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025" b="0" i="0" u="none" strike="noStrike" cap="none">
                <a:solidFill>
                  <a:srgbClr val="FFFFFF"/>
                </a:solidFill>
                <a:latin typeface="Calibri"/>
                <a:ea typeface="Calibri"/>
                <a:cs typeface="Calibri"/>
                <a:sym typeface="Calibri"/>
              </a:rPr>
              <a:t>6</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7"/>
          <p:cNvSpPr/>
          <p:nvPr/>
        </p:nvSpPr>
        <p:spPr>
          <a:xfrm>
            <a:off x="0" y="0"/>
            <a:ext cx="18288000" cy="10287000"/>
          </a:xfrm>
          <a:custGeom>
            <a:avLst/>
            <a:gdLst/>
            <a:ahLst/>
            <a:cxnLst/>
            <a:rect l="l" t="t" r="r" b="b"/>
            <a:pathLst>
              <a:path w="24384000" h="13716000" extrusionOk="0">
                <a:moveTo>
                  <a:pt x="24384000" y="13716000"/>
                </a:moveTo>
                <a:lnTo>
                  <a:pt x="0" y="13716000"/>
                </a:lnTo>
                <a:lnTo>
                  <a:pt x="0" y="0"/>
                </a:lnTo>
                <a:lnTo>
                  <a:pt x="24384000" y="0"/>
                </a:lnTo>
                <a:lnTo>
                  <a:pt x="24384000" y="13716000"/>
                </a:lnTo>
                <a:close/>
              </a:path>
            </a:pathLst>
          </a:custGeom>
          <a:solidFill>
            <a:srgbClr val="000000"/>
          </a:solidFill>
          <a:ln w="12700" cap="flat" cmpd="sng">
            <a:solidFill>
              <a:srgbClr val="000000"/>
            </a:solidFill>
            <a:prstDash val="solid"/>
            <a:round/>
            <a:headEnd type="none" w="sm" len="sm"/>
            <a:tailEnd type="none" w="sm" len="sm"/>
          </a:ln>
        </p:spPr>
      </p:sp>
      <p:sp>
        <p:nvSpPr>
          <p:cNvPr id="134" name="Google Shape;134;p7"/>
          <p:cNvSpPr/>
          <p:nvPr/>
        </p:nvSpPr>
        <p:spPr>
          <a:xfrm>
            <a:off x="0" y="8572498"/>
            <a:ext cx="18287999" cy="1714499"/>
          </a:xfrm>
          <a:custGeom>
            <a:avLst/>
            <a:gdLst/>
            <a:ahLst/>
            <a:cxnLst/>
            <a:rect l="l" t="t" r="r" b="b"/>
            <a:pathLst>
              <a:path w="24384000" h="2286000" extrusionOk="0">
                <a:moveTo>
                  <a:pt x="0" y="0"/>
                </a:moveTo>
                <a:lnTo>
                  <a:pt x="24384000" y="0"/>
                </a:lnTo>
                <a:lnTo>
                  <a:pt x="24384000" y="2286000"/>
                </a:lnTo>
                <a:lnTo>
                  <a:pt x="0" y="2286000"/>
                </a:lnTo>
                <a:lnTo>
                  <a:pt x="0" y="0"/>
                </a:lnTo>
                <a:close/>
              </a:path>
            </a:pathLst>
          </a:custGeom>
          <a:blipFill rotWithShape="1">
            <a:blip r:embed="rId3">
              <a:alphaModFix/>
            </a:blip>
            <a:stretch>
              <a:fillRect/>
            </a:stretch>
          </a:blipFill>
          <a:ln>
            <a:noFill/>
          </a:ln>
        </p:spPr>
      </p:sp>
      <p:sp>
        <p:nvSpPr>
          <p:cNvPr id="135" name="Google Shape;135;p7"/>
          <p:cNvSpPr/>
          <p:nvPr/>
        </p:nvSpPr>
        <p:spPr>
          <a:xfrm>
            <a:off x="1139936" y="1777734"/>
            <a:ext cx="16202026" cy="6400800"/>
          </a:xfrm>
          <a:custGeom>
            <a:avLst/>
            <a:gdLst/>
            <a:ahLst/>
            <a:cxnLst/>
            <a:rect l="l" t="t" r="r" b="b"/>
            <a:pathLst>
              <a:path w="21602700" h="8534400" extrusionOk="0">
                <a:moveTo>
                  <a:pt x="0" y="0"/>
                </a:moveTo>
                <a:lnTo>
                  <a:pt x="21602700" y="0"/>
                </a:lnTo>
                <a:lnTo>
                  <a:pt x="21602700" y="8534400"/>
                </a:lnTo>
                <a:lnTo>
                  <a:pt x="0" y="8534400"/>
                </a:lnTo>
                <a:lnTo>
                  <a:pt x="0" y="0"/>
                </a:lnTo>
                <a:close/>
              </a:path>
            </a:pathLst>
          </a:custGeom>
          <a:blipFill rotWithShape="1">
            <a:blip r:embed="rId4">
              <a:alphaModFix/>
            </a:blip>
            <a:stretch>
              <a:fillRect t="-29" b="-28"/>
            </a:stretch>
          </a:blipFill>
          <a:ln>
            <a:noFill/>
          </a:ln>
        </p:spPr>
      </p:sp>
      <p:sp>
        <p:nvSpPr>
          <p:cNvPr id="136" name="Google Shape;136;p7"/>
          <p:cNvSpPr txBox="1"/>
          <p:nvPr/>
        </p:nvSpPr>
        <p:spPr>
          <a:xfrm>
            <a:off x="1139936" y="364004"/>
            <a:ext cx="16431784" cy="1038746"/>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5625" b="1" i="0" u="none" strike="noStrike" cap="none" dirty="0">
                <a:solidFill>
                  <a:srgbClr val="FFFFFF"/>
                </a:solidFill>
                <a:latin typeface="Arial"/>
                <a:ea typeface="Arial"/>
                <a:cs typeface="Arial"/>
                <a:sym typeface="Arial"/>
              </a:rPr>
              <a:t>Literature Survey</a:t>
            </a:r>
            <a:endParaRPr dirty="0"/>
          </a:p>
        </p:txBody>
      </p:sp>
      <p:sp>
        <p:nvSpPr>
          <p:cNvPr id="137" name="Google Shape;137;p7"/>
          <p:cNvSpPr txBox="1"/>
          <p:nvPr/>
        </p:nvSpPr>
        <p:spPr>
          <a:xfrm>
            <a:off x="161061" y="8848311"/>
            <a:ext cx="17131665" cy="1061403"/>
          </a:xfrm>
          <a:prstGeom prst="rect">
            <a:avLst/>
          </a:prstGeom>
          <a:noFill/>
          <a:ln>
            <a:noFill/>
          </a:ln>
        </p:spPr>
        <p:txBody>
          <a:bodyPr spcFirstLastPara="1" wrap="square" lIns="0" tIns="0" rIns="0" bIns="0" anchor="t" anchorCtr="0">
            <a:spAutoFit/>
          </a:bodyPr>
          <a:lstStyle/>
          <a:p>
            <a:pPr marL="0" marR="0" lvl="0" indent="0" algn="l" rtl="0">
              <a:lnSpc>
                <a:spcPct val="117362"/>
              </a:lnSpc>
              <a:spcBef>
                <a:spcPts val="0"/>
              </a:spcBef>
              <a:spcAft>
                <a:spcPts val="0"/>
              </a:spcAft>
              <a:buNone/>
            </a:pPr>
            <a:r>
              <a:rPr lang="en-US" sz="3450" b="1" i="0" u="none" strike="noStrike" cap="none">
                <a:solidFill>
                  <a:srgbClr val="000000"/>
                </a:solidFill>
                <a:latin typeface="Arial"/>
                <a:ea typeface="Arial"/>
                <a:cs typeface="Arial"/>
                <a:sym typeface="Arial"/>
              </a:rPr>
              <a:t>While complex models like ANN give slightly better accuracy, Logistic Regression provides explainability — a crucial factor in medical decision-making.</a:t>
            </a:r>
            <a:endParaRPr/>
          </a:p>
        </p:txBody>
      </p:sp>
      <p:sp>
        <p:nvSpPr>
          <p:cNvPr id="138" name="Google Shape;138;p7"/>
          <p:cNvSpPr txBox="1"/>
          <p:nvPr/>
        </p:nvSpPr>
        <p:spPr>
          <a:xfrm>
            <a:off x="1805194" y="1842354"/>
            <a:ext cx="1866900" cy="45593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700" b="1" i="0" u="none" strike="noStrike" cap="none">
                <a:solidFill>
                  <a:srgbClr val="FFFFFF"/>
                </a:solidFill>
                <a:latin typeface="Arial"/>
                <a:ea typeface="Arial"/>
                <a:cs typeface="Arial"/>
                <a:sym typeface="Arial"/>
              </a:rPr>
              <a:t>The source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8"/>
          <p:cNvSpPr/>
          <p:nvPr/>
        </p:nvSpPr>
        <p:spPr>
          <a:xfrm>
            <a:off x="-106680" y="-243840"/>
            <a:ext cx="18420347" cy="10530840"/>
          </a:xfrm>
          <a:custGeom>
            <a:avLst/>
            <a:gdLst/>
            <a:ahLst/>
            <a:cxnLst/>
            <a:rect l="l" t="t" r="r" b="b"/>
            <a:pathLst>
              <a:path w="24384000" h="13716000" extrusionOk="0">
                <a:moveTo>
                  <a:pt x="24384000" y="13716000"/>
                </a:moveTo>
                <a:lnTo>
                  <a:pt x="0" y="13716000"/>
                </a:lnTo>
                <a:lnTo>
                  <a:pt x="0" y="0"/>
                </a:lnTo>
                <a:lnTo>
                  <a:pt x="24384000" y="0"/>
                </a:lnTo>
                <a:lnTo>
                  <a:pt x="24384000" y="13716000"/>
                </a:lnTo>
                <a:close/>
              </a:path>
            </a:pathLst>
          </a:custGeom>
          <a:solidFill>
            <a:srgbClr val="212121"/>
          </a:solidFill>
          <a:ln w="12700" cap="flat" cmpd="sng">
            <a:solidFill>
              <a:srgbClr val="000000"/>
            </a:solidFill>
            <a:prstDash val="solid"/>
            <a:round/>
            <a:headEnd type="none" w="sm" len="sm"/>
            <a:tailEnd type="none" w="sm" len="sm"/>
          </a:ln>
        </p:spPr>
      </p:sp>
      <p:sp>
        <p:nvSpPr>
          <p:cNvPr id="144" name="Google Shape;144;p8"/>
          <p:cNvSpPr/>
          <p:nvPr/>
        </p:nvSpPr>
        <p:spPr>
          <a:xfrm>
            <a:off x="714375" y="2371724"/>
            <a:ext cx="8286749" cy="3171826"/>
          </a:xfrm>
          <a:custGeom>
            <a:avLst/>
            <a:gdLst/>
            <a:ahLst/>
            <a:cxnLst/>
            <a:rect l="l" t="t" r="r" b="b"/>
            <a:pathLst>
              <a:path w="11049000" h="4229100" extrusionOk="0">
                <a:moveTo>
                  <a:pt x="0" y="0"/>
                </a:moveTo>
                <a:lnTo>
                  <a:pt x="11049000" y="0"/>
                </a:lnTo>
                <a:lnTo>
                  <a:pt x="11049000" y="4229100"/>
                </a:lnTo>
                <a:lnTo>
                  <a:pt x="0" y="4229100"/>
                </a:lnTo>
                <a:lnTo>
                  <a:pt x="0" y="0"/>
                </a:lnTo>
                <a:close/>
              </a:path>
            </a:pathLst>
          </a:custGeom>
          <a:blipFill rotWithShape="1">
            <a:blip r:embed="rId3">
              <a:alphaModFix/>
            </a:blip>
            <a:stretch>
              <a:fillRect t="-3" b="-2"/>
            </a:stretch>
          </a:blipFill>
          <a:ln>
            <a:noFill/>
          </a:ln>
        </p:spPr>
      </p:sp>
      <p:sp>
        <p:nvSpPr>
          <p:cNvPr id="145" name="Google Shape;145;p8"/>
          <p:cNvSpPr/>
          <p:nvPr/>
        </p:nvSpPr>
        <p:spPr>
          <a:xfrm>
            <a:off x="714375" y="5829298"/>
            <a:ext cx="8286749" cy="3171824"/>
          </a:xfrm>
          <a:custGeom>
            <a:avLst/>
            <a:gdLst/>
            <a:ahLst/>
            <a:cxnLst/>
            <a:rect l="l" t="t" r="r" b="b"/>
            <a:pathLst>
              <a:path w="11049000" h="4229100" extrusionOk="0">
                <a:moveTo>
                  <a:pt x="0" y="0"/>
                </a:moveTo>
                <a:lnTo>
                  <a:pt x="11049000" y="0"/>
                </a:lnTo>
                <a:lnTo>
                  <a:pt x="11049000" y="4229100"/>
                </a:lnTo>
                <a:lnTo>
                  <a:pt x="0" y="4229100"/>
                </a:lnTo>
                <a:lnTo>
                  <a:pt x="0" y="0"/>
                </a:lnTo>
                <a:close/>
              </a:path>
            </a:pathLst>
          </a:custGeom>
          <a:blipFill rotWithShape="1">
            <a:blip r:embed="rId4">
              <a:alphaModFix/>
            </a:blip>
            <a:stretch>
              <a:fillRect t="-3" b="-2"/>
            </a:stretch>
          </a:blipFill>
          <a:ln>
            <a:noFill/>
          </a:ln>
        </p:spPr>
      </p:sp>
      <p:sp>
        <p:nvSpPr>
          <p:cNvPr id="146" name="Google Shape;146;p8"/>
          <p:cNvSpPr/>
          <p:nvPr/>
        </p:nvSpPr>
        <p:spPr>
          <a:xfrm>
            <a:off x="9286875" y="2371724"/>
            <a:ext cx="8286749" cy="3171826"/>
          </a:xfrm>
          <a:custGeom>
            <a:avLst/>
            <a:gdLst/>
            <a:ahLst/>
            <a:cxnLst/>
            <a:rect l="l" t="t" r="r" b="b"/>
            <a:pathLst>
              <a:path w="11049000" h="4229100" extrusionOk="0">
                <a:moveTo>
                  <a:pt x="0" y="0"/>
                </a:moveTo>
                <a:lnTo>
                  <a:pt x="11049000" y="0"/>
                </a:lnTo>
                <a:lnTo>
                  <a:pt x="11049000" y="4229100"/>
                </a:lnTo>
                <a:lnTo>
                  <a:pt x="0" y="4229100"/>
                </a:lnTo>
                <a:lnTo>
                  <a:pt x="0" y="0"/>
                </a:lnTo>
                <a:close/>
              </a:path>
            </a:pathLst>
          </a:custGeom>
          <a:blipFill rotWithShape="1">
            <a:blip r:embed="rId5">
              <a:alphaModFix/>
            </a:blip>
            <a:stretch>
              <a:fillRect t="-3" b="-2"/>
            </a:stretch>
          </a:blipFill>
          <a:ln>
            <a:noFill/>
          </a:ln>
        </p:spPr>
      </p:sp>
      <p:sp>
        <p:nvSpPr>
          <p:cNvPr id="147" name="Google Shape;147;p8"/>
          <p:cNvSpPr/>
          <p:nvPr/>
        </p:nvSpPr>
        <p:spPr>
          <a:xfrm>
            <a:off x="9286875" y="5829298"/>
            <a:ext cx="8286749" cy="3171824"/>
          </a:xfrm>
          <a:custGeom>
            <a:avLst/>
            <a:gdLst/>
            <a:ahLst/>
            <a:cxnLst/>
            <a:rect l="l" t="t" r="r" b="b"/>
            <a:pathLst>
              <a:path w="11049000" h="4229100" extrusionOk="0">
                <a:moveTo>
                  <a:pt x="0" y="0"/>
                </a:moveTo>
                <a:lnTo>
                  <a:pt x="11049000" y="0"/>
                </a:lnTo>
                <a:lnTo>
                  <a:pt x="11049000" y="4229100"/>
                </a:lnTo>
                <a:lnTo>
                  <a:pt x="0" y="4229100"/>
                </a:lnTo>
                <a:lnTo>
                  <a:pt x="0" y="0"/>
                </a:lnTo>
                <a:close/>
              </a:path>
            </a:pathLst>
          </a:custGeom>
          <a:blipFill rotWithShape="1">
            <a:blip r:embed="rId6">
              <a:alphaModFix/>
            </a:blip>
            <a:stretch>
              <a:fillRect t="-3" b="-2"/>
            </a:stretch>
          </a:blipFill>
          <a:ln>
            <a:noFill/>
          </a:ln>
        </p:spPr>
      </p:sp>
      <p:sp>
        <p:nvSpPr>
          <p:cNvPr id="148" name="Google Shape;148;p8"/>
          <p:cNvSpPr txBox="1"/>
          <p:nvPr/>
        </p:nvSpPr>
        <p:spPr>
          <a:xfrm>
            <a:off x="8090535" y="376748"/>
            <a:ext cx="2586594" cy="1038746"/>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5625" b="1" i="0" u="none" strike="noStrike" cap="none" dirty="0">
                <a:solidFill>
                  <a:srgbClr val="FFFFFF"/>
                </a:solidFill>
                <a:latin typeface="Arial"/>
                <a:ea typeface="Arial"/>
                <a:cs typeface="Arial"/>
                <a:sym typeface="Arial"/>
              </a:rPr>
              <a:t>Issues</a:t>
            </a:r>
            <a:endParaRPr dirty="0"/>
          </a:p>
        </p:txBody>
      </p:sp>
      <p:sp>
        <p:nvSpPr>
          <p:cNvPr id="149" name="Google Shape;149;p8"/>
          <p:cNvSpPr txBox="1"/>
          <p:nvPr/>
        </p:nvSpPr>
        <p:spPr>
          <a:xfrm>
            <a:off x="1123950" y="2598818"/>
            <a:ext cx="7562850" cy="198414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750" b="1" i="0" u="none" strike="noStrike" cap="none" dirty="0">
                <a:solidFill>
                  <a:srgbClr val="000000"/>
                </a:solidFill>
                <a:latin typeface="Arial"/>
                <a:ea typeface="Arial"/>
                <a:cs typeface="Arial"/>
                <a:sym typeface="Arial"/>
              </a:rPr>
              <a:t>Data Imbalance</a:t>
            </a:r>
            <a:endParaRPr dirty="0"/>
          </a:p>
          <a:p>
            <a:pPr marL="0" marR="0" lvl="0" indent="0" algn="l" rtl="0">
              <a:lnSpc>
                <a:spcPct val="134140"/>
              </a:lnSpc>
              <a:spcBef>
                <a:spcPts val="0"/>
              </a:spcBef>
              <a:spcAft>
                <a:spcPts val="0"/>
              </a:spcAft>
              <a:buNone/>
            </a:pPr>
            <a:r>
              <a:rPr lang="en-US" sz="2850" b="0" i="0" u="none" strike="noStrike" cap="none" dirty="0">
                <a:solidFill>
                  <a:srgbClr val="000000"/>
                </a:solidFill>
                <a:latin typeface="Arial"/>
                <a:ea typeface="Arial"/>
                <a:cs typeface="Arial"/>
                <a:sym typeface="Arial"/>
              </a:rPr>
              <a:t>Data sets often have an unequal  distribution of cases, leading to biased models that struggle to accurately predict  rare  diseases.</a:t>
            </a:r>
            <a:endParaRPr dirty="0"/>
          </a:p>
        </p:txBody>
      </p:sp>
      <p:sp>
        <p:nvSpPr>
          <p:cNvPr id="150" name="Google Shape;150;p8"/>
          <p:cNvSpPr txBox="1"/>
          <p:nvPr/>
        </p:nvSpPr>
        <p:spPr>
          <a:xfrm>
            <a:off x="1123950" y="5887834"/>
            <a:ext cx="6966585" cy="3113288"/>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3749" b="1" i="0" u="none" strike="noStrike" cap="none" dirty="0">
                <a:solidFill>
                  <a:srgbClr val="000000"/>
                </a:solidFill>
                <a:latin typeface="Arial"/>
                <a:ea typeface="Arial"/>
                <a:cs typeface="Arial"/>
                <a:sym typeface="Arial"/>
              </a:rPr>
              <a:t>Overfitting on Small Datasets</a:t>
            </a:r>
            <a:endParaRPr dirty="0"/>
          </a:p>
          <a:p>
            <a:pPr marL="0" marR="0" lvl="0" indent="0" algn="l" rtl="0">
              <a:lnSpc>
                <a:spcPct val="138105"/>
              </a:lnSpc>
              <a:spcBef>
                <a:spcPts val="0"/>
              </a:spcBef>
              <a:spcAft>
                <a:spcPts val="0"/>
              </a:spcAft>
              <a:buNone/>
            </a:pPr>
            <a:r>
              <a:rPr lang="en-US" sz="2850" b="0" i="0" u="none" strike="noStrike" cap="none" dirty="0">
                <a:solidFill>
                  <a:srgbClr val="000000"/>
                </a:solidFill>
                <a:latin typeface="Arial"/>
                <a:ea typeface="Arial"/>
                <a:cs typeface="Arial"/>
                <a:sym typeface="Arial"/>
              </a:rPr>
              <a:t>Models may overfit to the limited training data, performing well on the training set but failing to generalize to new, unseen samples.</a:t>
            </a:r>
            <a:endParaRPr dirty="0"/>
          </a:p>
        </p:txBody>
      </p:sp>
      <p:sp>
        <p:nvSpPr>
          <p:cNvPr id="151" name="Google Shape;151;p8"/>
          <p:cNvSpPr txBox="1"/>
          <p:nvPr/>
        </p:nvSpPr>
        <p:spPr>
          <a:xfrm>
            <a:off x="9682368" y="2598818"/>
            <a:ext cx="7419023" cy="2270878"/>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3749" b="1" i="0" u="none" strike="noStrike" cap="none" dirty="0">
                <a:solidFill>
                  <a:srgbClr val="000000"/>
                </a:solidFill>
                <a:latin typeface="Arial"/>
                <a:ea typeface="Arial"/>
                <a:cs typeface="Arial"/>
                <a:sym typeface="Arial"/>
              </a:rPr>
              <a:t>Missing/Incomplete Records</a:t>
            </a:r>
            <a:endParaRPr dirty="0"/>
          </a:p>
          <a:p>
            <a:pPr marL="0" marR="0" lvl="0" indent="0" algn="l" rtl="0">
              <a:lnSpc>
                <a:spcPct val="120007"/>
              </a:lnSpc>
              <a:spcBef>
                <a:spcPts val="0"/>
              </a:spcBef>
              <a:spcAft>
                <a:spcPts val="0"/>
              </a:spcAft>
              <a:buNone/>
            </a:pPr>
            <a:r>
              <a:rPr lang="en-US" sz="2849" b="0" i="0" u="none" strike="noStrike" cap="none" dirty="0">
                <a:solidFill>
                  <a:srgbClr val="000000"/>
                </a:solidFill>
                <a:latin typeface="Arial"/>
                <a:ea typeface="Arial"/>
                <a:cs typeface="Arial"/>
                <a:sym typeface="Arial"/>
              </a:rPr>
              <a:t>Patient records can have missing values, which</a:t>
            </a:r>
            <a:r>
              <a:rPr lang="en-US" dirty="0"/>
              <a:t> </a:t>
            </a:r>
            <a:r>
              <a:rPr lang="en-US" sz="2849" b="0" i="0" u="none" strike="noStrike" cap="none" dirty="0">
                <a:solidFill>
                  <a:srgbClr val="000000"/>
                </a:solidFill>
                <a:latin typeface="Arial"/>
                <a:ea typeface="Arial"/>
                <a:cs typeface="Arial"/>
                <a:sym typeface="Arial"/>
              </a:rPr>
              <a:t>compromises the model's ability to learn patterns and make reliable predictions.</a:t>
            </a:r>
            <a:endParaRPr dirty="0"/>
          </a:p>
        </p:txBody>
      </p:sp>
      <p:sp>
        <p:nvSpPr>
          <p:cNvPr id="152" name="Google Shape;152;p8"/>
          <p:cNvSpPr txBox="1"/>
          <p:nvPr/>
        </p:nvSpPr>
        <p:spPr>
          <a:xfrm>
            <a:off x="9682368" y="5887834"/>
            <a:ext cx="7194232" cy="2797561"/>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3749" b="1" i="0" u="none" strike="noStrike" cap="none" dirty="0">
                <a:solidFill>
                  <a:srgbClr val="000000"/>
                </a:solidFill>
                <a:latin typeface="Arial"/>
                <a:ea typeface="Arial"/>
                <a:cs typeface="Arial"/>
                <a:sym typeface="Arial"/>
              </a:rPr>
              <a:t>Lack of Interpretability</a:t>
            </a:r>
            <a:endParaRPr dirty="0"/>
          </a:p>
          <a:p>
            <a:pPr marL="0" marR="0" lvl="0" indent="0" algn="just" rtl="0">
              <a:lnSpc>
                <a:spcPct val="119964"/>
              </a:lnSpc>
              <a:spcBef>
                <a:spcPts val="0"/>
              </a:spcBef>
              <a:spcAft>
                <a:spcPts val="0"/>
              </a:spcAft>
              <a:buNone/>
            </a:pPr>
            <a:r>
              <a:rPr lang="en-US" sz="2850" b="0" i="0" u="none" strike="noStrike" cap="none" dirty="0">
                <a:solidFill>
                  <a:srgbClr val="000000"/>
                </a:solidFill>
                <a:latin typeface="Arial"/>
                <a:ea typeface="Arial"/>
                <a:cs typeface="Arial"/>
                <a:sym typeface="Arial"/>
              </a:rPr>
              <a:t>Complex  machine  learning  models, such as neutral</a:t>
            </a:r>
            <a:r>
              <a:rPr lang="en-US" dirty="0"/>
              <a:t> </a:t>
            </a:r>
            <a:r>
              <a:rPr lang="en-US" sz="2850" b="0" i="0" u="none" strike="noStrike" cap="none" dirty="0">
                <a:solidFill>
                  <a:srgbClr val="000000"/>
                </a:solidFill>
                <a:latin typeface="Arial"/>
                <a:ea typeface="Arial"/>
                <a:cs typeface="Arial"/>
                <a:sym typeface="Arial"/>
              </a:rPr>
              <a:t>networks, can be difficult for healthcare professionals to understand and trust, hindering their adoption.</a:t>
            </a:r>
            <a:endParaRPr dirty="0"/>
          </a:p>
        </p:txBody>
      </p:sp>
      <p:sp>
        <p:nvSpPr>
          <p:cNvPr id="153" name="Google Shape;153;p8"/>
          <p:cNvSpPr txBox="1"/>
          <p:nvPr/>
        </p:nvSpPr>
        <p:spPr>
          <a:xfrm>
            <a:off x="17839182" y="9651276"/>
            <a:ext cx="132398" cy="3733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025" b="0" i="0" u="none" strike="noStrike" cap="none">
                <a:solidFill>
                  <a:srgbClr val="FFFFFF"/>
                </a:solidFill>
                <a:latin typeface="Calibri"/>
                <a:ea typeface="Calibri"/>
                <a:cs typeface="Calibri"/>
                <a:sym typeface="Calibri"/>
              </a:rPr>
              <a:t>5</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9"/>
          <p:cNvSpPr/>
          <p:nvPr/>
        </p:nvSpPr>
        <p:spPr>
          <a:xfrm>
            <a:off x="664351" y="2280192"/>
            <a:ext cx="16594949" cy="6587945"/>
          </a:xfrm>
          <a:custGeom>
            <a:avLst/>
            <a:gdLst/>
            <a:ahLst/>
            <a:cxnLst/>
            <a:rect l="l" t="t" r="r" b="b"/>
            <a:pathLst>
              <a:path w="22745700" h="9029700" extrusionOk="0">
                <a:moveTo>
                  <a:pt x="0" y="0"/>
                </a:moveTo>
                <a:lnTo>
                  <a:pt x="22745700" y="0"/>
                </a:lnTo>
                <a:lnTo>
                  <a:pt x="22745700" y="9029700"/>
                </a:lnTo>
                <a:lnTo>
                  <a:pt x="0" y="9029700"/>
                </a:lnTo>
                <a:lnTo>
                  <a:pt x="0" y="0"/>
                </a:lnTo>
                <a:close/>
              </a:path>
            </a:pathLst>
          </a:custGeom>
          <a:blipFill rotWithShape="1">
            <a:blip r:embed="rId3">
              <a:alphaModFix/>
            </a:blip>
            <a:stretch>
              <a:fillRect t="-34" b="-33"/>
            </a:stretch>
          </a:blipFill>
          <a:ln>
            <a:noFill/>
          </a:ln>
        </p:spPr>
      </p:sp>
      <p:sp>
        <p:nvSpPr>
          <p:cNvPr id="159" name="Google Shape;159;p9"/>
          <p:cNvSpPr txBox="1"/>
          <p:nvPr/>
        </p:nvSpPr>
        <p:spPr>
          <a:xfrm>
            <a:off x="1009650" y="155604"/>
            <a:ext cx="16268700" cy="8572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25" b="1" i="0" u="none" strike="noStrike" cap="none">
                <a:solidFill>
                  <a:srgbClr val="333333"/>
                </a:solidFill>
                <a:latin typeface="Arial"/>
                <a:ea typeface="Arial"/>
                <a:cs typeface="Arial"/>
                <a:sym typeface="Arial"/>
              </a:rPr>
              <a:t>Tools / Techniques / Algorithms</a:t>
            </a:r>
            <a:endParaRPr/>
          </a:p>
        </p:txBody>
      </p:sp>
      <p:sp>
        <p:nvSpPr>
          <p:cNvPr id="160" name="Google Shape;160;p9"/>
          <p:cNvSpPr txBox="1"/>
          <p:nvPr/>
        </p:nvSpPr>
        <p:spPr>
          <a:xfrm>
            <a:off x="17852532" y="9651276"/>
            <a:ext cx="128588" cy="3733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025" b="0" i="0" u="none" strike="noStrike" cap="none">
                <a:solidFill>
                  <a:srgbClr val="000000"/>
                </a:solidFill>
                <a:latin typeface="Calibri"/>
                <a:ea typeface="Calibri"/>
                <a:cs typeface="Calibri"/>
                <a:sym typeface="Calibri"/>
              </a:rPr>
              <a:t>7</a:t>
            </a:r>
            <a:endParaRPr/>
          </a:p>
        </p:txBody>
      </p:sp>
      <p:sp>
        <p:nvSpPr>
          <p:cNvPr id="161" name="Google Shape;161;p9"/>
          <p:cNvSpPr txBox="1"/>
          <p:nvPr/>
        </p:nvSpPr>
        <p:spPr>
          <a:xfrm>
            <a:off x="1009650" y="5846610"/>
            <a:ext cx="4964430" cy="41549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250" b="0" i="0" u="none" strike="noStrike" cap="none" dirty="0">
                <a:solidFill>
                  <a:srgbClr val="333333"/>
                </a:solidFill>
                <a:latin typeface="Arial"/>
                <a:ea typeface="Arial"/>
                <a:cs typeface="Arial"/>
                <a:sym typeface="Arial"/>
              </a:rPr>
              <a:t>N/A</a:t>
            </a:r>
            <a:endParaRPr dirty="0"/>
          </a:p>
        </p:txBody>
      </p:sp>
      <p:sp>
        <p:nvSpPr>
          <p:cNvPr id="162" name="Google Shape;162;p9"/>
          <p:cNvSpPr txBox="1"/>
          <p:nvPr/>
        </p:nvSpPr>
        <p:spPr>
          <a:xfrm>
            <a:off x="1009650" y="7004286"/>
            <a:ext cx="4964430" cy="41549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250" b="0" i="0" u="none" strike="noStrike" cap="none" dirty="0">
                <a:solidFill>
                  <a:srgbClr val="333333"/>
                </a:solidFill>
                <a:latin typeface="Arial"/>
                <a:ea typeface="Arial"/>
                <a:cs typeface="Arial"/>
                <a:sym typeface="Arial"/>
              </a:rPr>
              <a:t>N/A</a:t>
            </a:r>
            <a:endParaRPr dirty="0"/>
          </a:p>
        </p:txBody>
      </p:sp>
      <p:sp>
        <p:nvSpPr>
          <p:cNvPr id="163" name="Google Shape;163;p9"/>
          <p:cNvSpPr txBox="1"/>
          <p:nvPr/>
        </p:nvSpPr>
        <p:spPr>
          <a:xfrm>
            <a:off x="1009649" y="3560050"/>
            <a:ext cx="4964431" cy="41549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250" b="0" i="0" u="none" strike="noStrike" cap="none" dirty="0">
                <a:solidFill>
                  <a:srgbClr val="333333"/>
                </a:solidFill>
                <a:latin typeface="Arial"/>
                <a:ea typeface="Arial"/>
                <a:cs typeface="Arial"/>
                <a:sym typeface="Arial"/>
              </a:rPr>
              <a:t>Python</a:t>
            </a:r>
            <a:endParaRPr dirty="0"/>
          </a:p>
        </p:txBody>
      </p:sp>
      <p:sp>
        <p:nvSpPr>
          <p:cNvPr id="164" name="Google Shape;164;p9"/>
          <p:cNvSpPr txBox="1"/>
          <p:nvPr/>
        </p:nvSpPr>
        <p:spPr>
          <a:xfrm>
            <a:off x="2922648" y="2559726"/>
            <a:ext cx="1512192" cy="41549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250" b="0" i="0" u="none" strike="noStrike" cap="none" dirty="0">
                <a:solidFill>
                  <a:srgbClr val="333333"/>
                </a:solidFill>
                <a:latin typeface="Arial"/>
                <a:ea typeface="Arial"/>
                <a:cs typeface="Arial"/>
                <a:sym typeface="Arial"/>
              </a:rPr>
              <a:t>Software</a:t>
            </a:r>
            <a:endParaRPr dirty="0"/>
          </a:p>
        </p:txBody>
      </p:sp>
      <p:sp>
        <p:nvSpPr>
          <p:cNvPr id="165" name="Google Shape;165;p9"/>
          <p:cNvSpPr txBox="1"/>
          <p:nvPr/>
        </p:nvSpPr>
        <p:spPr>
          <a:xfrm>
            <a:off x="1009650" y="4703610"/>
            <a:ext cx="4964431" cy="41549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250" b="0" i="0" u="none" strike="noStrike" cap="none" dirty="0" err="1">
                <a:solidFill>
                  <a:srgbClr val="333333"/>
                </a:solidFill>
                <a:latin typeface="Arial"/>
                <a:ea typeface="Arial"/>
                <a:cs typeface="Arial"/>
                <a:sym typeface="Arial"/>
              </a:rPr>
              <a:t>Jupyter</a:t>
            </a:r>
            <a:r>
              <a:rPr lang="en-US" sz="2250" b="0" i="0" u="none" strike="noStrike" cap="none" dirty="0">
                <a:solidFill>
                  <a:srgbClr val="333333"/>
                </a:solidFill>
                <a:latin typeface="Arial"/>
                <a:ea typeface="Arial"/>
                <a:cs typeface="Arial"/>
                <a:sym typeface="Arial"/>
              </a:rPr>
              <a:t>  Notebook  /   Google  </a:t>
            </a:r>
            <a:r>
              <a:rPr lang="en-US" sz="2250" b="0" i="0" u="none" strike="noStrike" cap="none" dirty="0" err="1">
                <a:solidFill>
                  <a:srgbClr val="333333"/>
                </a:solidFill>
                <a:latin typeface="Arial"/>
                <a:ea typeface="Arial"/>
                <a:cs typeface="Arial"/>
                <a:sym typeface="Arial"/>
              </a:rPr>
              <a:t>Colab</a:t>
            </a:r>
            <a:endParaRPr dirty="0"/>
          </a:p>
        </p:txBody>
      </p:sp>
      <p:sp>
        <p:nvSpPr>
          <p:cNvPr id="166" name="Google Shape;166;p9"/>
          <p:cNvSpPr txBox="1"/>
          <p:nvPr/>
        </p:nvSpPr>
        <p:spPr>
          <a:xfrm>
            <a:off x="8382000" y="2559726"/>
            <a:ext cx="1163637" cy="4154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250" b="0" i="0" u="none" strike="noStrike" cap="none" dirty="0">
                <a:solidFill>
                  <a:srgbClr val="333333"/>
                </a:solidFill>
                <a:latin typeface="Arial"/>
                <a:ea typeface="Arial"/>
                <a:cs typeface="Arial"/>
                <a:sym typeface="Arial"/>
              </a:rPr>
              <a:t>Libraries</a:t>
            </a:r>
            <a:endParaRPr dirty="0"/>
          </a:p>
        </p:txBody>
      </p:sp>
      <p:sp>
        <p:nvSpPr>
          <p:cNvPr id="167" name="Google Shape;167;p9"/>
          <p:cNvSpPr txBox="1"/>
          <p:nvPr/>
        </p:nvSpPr>
        <p:spPr>
          <a:xfrm>
            <a:off x="6446519" y="5846610"/>
            <a:ext cx="5024399" cy="41549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250" b="0" i="0" u="none" strike="noStrike" cap="none" dirty="0">
                <a:solidFill>
                  <a:srgbClr val="333333"/>
                </a:solidFill>
                <a:latin typeface="Arial"/>
                <a:ea typeface="Arial"/>
                <a:cs typeface="Arial"/>
                <a:sym typeface="Arial"/>
              </a:rPr>
              <a:t>Scikit-learn</a:t>
            </a:r>
            <a:endParaRPr dirty="0"/>
          </a:p>
        </p:txBody>
      </p:sp>
      <p:sp>
        <p:nvSpPr>
          <p:cNvPr id="168" name="Google Shape;168;p9"/>
          <p:cNvSpPr txBox="1"/>
          <p:nvPr/>
        </p:nvSpPr>
        <p:spPr>
          <a:xfrm>
            <a:off x="6446519" y="3560050"/>
            <a:ext cx="5024399" cy="41549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250" b="0" i="0" u="none" strike="noStrike" cap="none" dirty="0">
                <a:solidFill>
                  <a:srgbClr val="333333"/>
                </a:solidFill>
                <a:latin typeface="Arial"/>
                <a:ea typeface="Arial"/>
                <a:cs typeface="Arial"/>
                <a:sym typeface="Arial"/>
              </a:rPr>
              <a:t>Pandas, NumPy</a:t>
            </a:r>
            <a:endParaRPr dirty="0"/>
          </a:p>
        </p:txBody>
      </p:sp>
      <p:sp>
        <p:nvSpPr>
          <p:cNvPr id="169" name="Google Shape;169;p9"/>
          <p:cNvSpPr txBox="1"/>
          <p:nvPr/>
        </p:nvSpPr>
        <p:spPr>
          <a:xfrm>
            <a:off x="6446519" y="7004286"/>
            <a:ext cx="5024399" cy="41549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250" b="0" i="0" u="none" strike="noStrike" cap="none" dirty="0">
                <a:solidFill>
                  <a:srgbClr val="333333"/>
                </a:solidFill>
                <a:latin typeface="Arial"/>
                <a:ea typeface="Arial"/>
                <a:cs typeface="Arial"/>
                <a:sym typeface="Arial"/>
              </a:rPr>
              <a:t>Tensor Flow/</a:t>
            </a:r>
            <a:r>
              <a:rPr lang="en-US" sz="2250" b="0" i="0" u="none" strike="noStrike" cap="none" dirty="0" err="1">
                <a:solidFill>
                  <a:srgbClr val="333333"/>
                </a:solidFill>
                <a:latin typeface="Arial"/>
                <a:ea typeface="Arial"/>
                <a:cs typeface="Arial"/>
                <a:sym typeface="Arial"/>
              </a:rPr>
              <a:t>Keras</a:t>
            </a:r>
            <a:endParaRPr dirty="0"/>
          </a:p>
        </p:txBody>
      </p:sp>
      <p:sp>
        <p:nvSpPr>
          <p:cNvPr id="170" name="Google Shape;170;p9"/>
          <p:cNvSpPr txBox="1"/>
          <p:nvPr/>
        </p:nvSpPr>
        <p:spPr>
          <a:xfrm>
            <a:off x="6446519" y="4703610"/>
            <a:ext cx="5024399" cy="41549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250" b="0" i="0" u="none" strike="noStrike" cap="none" dirty="0">
                <a:solidFill>
                  <a:srgbClr val="333333"/>
                </a:solidFill>
                <a:latin typeface="Arial"/>
                <a:ea typeface="Arial"/>
                <a:cs typeface="Arial"/>
                <a:sym typeface="Arial"/>
              </a:rPr>
              <a:t>Matplotlib ,  Seaborn</a:t>
            </a:r>
            <a:endParaRPr dirty="0"/>
          </a:p>
        </p:txBody>
      </p:sp>
      <p:sp>
        <p:nvSpPr>
          <p:cNvPr id="171" name="Google Shape;171;p9"/>
          <p:cNvSpPr txBox="1"/>
          <p:nvPr/>
        </p:nvSpPr>
        <p:spPr>
          <a:xfrm>
            <a:off x="13771060" y="2559726"/>
            <a:ext cx="1752228" cy="4154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250" b="0" i="0" u="none" strike="noStrike" cap="none" dirty="0">
                <a:solidFill>
                  <a:srgbClr val="333333"/>
                </a:solidFill>
                <a:latin typeface="Arial"/>
                <a:ea typeface="Arial"/>
                <a:cs typeface="Arial"/>
                <a:sym typeface="Arial"/>
              </a:rPr>
              <a:t>Algorithms</a:t>
            </a:r>
            <a:endParaRPr dirty="0"/>
          </a:p>
        </p:txBody>
      </p:sp>
      <p:sp>
        <p:nvSpPr>
          <p:cNvPr id="172" name="Google Shape;172;p9"/>
          <p:cNvSpPr txBox="1"/>
          <p:nvPr/>
        </p:nvSpPr>
        <p:spPr>
          <a:xfrm>
            <a:off x="11811000" y="3560051"/>
            <a:ext cx="5196840" cy="41549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250" b="0" i="0" u="none" strike="noStrike" cap="none" dirty="0">
                <a:solidFill>
                  <a:srgbClr val="333333"/>
                </a:solidFill>
                <a:latin typeface="Arial"/>
                <a:ea typeface="Arial"/>
                <a:cs typeface="Arial"/>
                <a:sym typeface="Arial"/>
              </a:rPr>
              <a:t>Decision Tree</a:t>
            </a:r>
            <a:endParaRPr dirty="0"/>
          </a:p>
        </p:txBody>
      </p:sp>
      <p:sp>
        <p:nvSpPr>
          <p:cNvPr id="173" name="Google Shape;173;p9"/>
          <p:cNvSpPr txBox="1"/>
          <p:nvPr/>
        </p:nvSpPr>
        <p:spPr>
          <a:xfrm>
            <a:off x="11811000" y="4703610"/>
            <a:ext cx="5196840" cy="41549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250" b="0" i="0" u="none" strike="noStrike" cap="none" dirty="0">
                <a:solidFill>
                  <a:srgbClr val="333333"/>
                </a:solidFill>
                <a:latin typeface="Arial"/>
                <a:ea typeface="Arial"/>
                <a:cs typeface="Arial"/>
                <a:sym typeface="Arial"/>
              </a:rPr>
              <a:t>Random Forest</a:t>
            </a:r>
            <a:endParaRPr dirty="0"/>
          </a:p>
        </p:txBody>
      </p:sp>
      <p:sp>
        <p:nvSpPr>
          <p:cNvPr id="174" name="Google Shape;174;p9"/>
          <p:cNvSpPr txBox="1"/>
          <p:nvPr/>
        </p:nvSpPr>
        <p:spPr>
          <a:xfrm>
            <a:off x="12263464" y="5846610"/>
            <a:ext cx="4393856" cy="41549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250" b="0" i="0" u="none" strike="noStrike" cap="none" dirty="0">
                <a:solidFill>
                  <a:srgbClr val="333333"/>
                </a:solidFill>
                <a:latin typeface="Arial"/>
                <a:ea typeface="Arial"/>
                <a:cs typeface="Arial"/>
                <a:sym typeface="Arial"/>
              </a:rPr>
              <a:t>Support Vector Machine (SVM)</a:t>
            </a:r>
            <a:endParaRPr dirty="0"/>
          </a:p>
        </p:txBody>
      </p:sp>
      <p:sp>
        <p:nvSpPr>
          <p:cNvPr id="175" name="Google Shape;175;p9"/>
          <p:cNvSpPr txBox="1"/>
          <p:nvPr/>
        </p:nvSpPr>
        <p:spPr>
          <a:xfrm>
            <a:off x="11983440" y="7004286"/>
            <a:ext cx="5024399" cy="41549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250" b="0" i="0" u="none" strike="noStrike" cap="none" dirty="0">
                <a:solidFill>
                  <a:srgbClr val="333333"/>
                </a:solidFill>
                <a:latin typeface="Arial"/>
                <a:ea typeface="Arial"/>
                <a:cs typeface="Arial"/>
                <a:sym typeface="Arial"/>
              </a:rPr>
              <a:t>Artificial Neural Networks (ANNs)</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0"/>
          <p:cNvSpPr txBox="1"/>
          <p:nvPr/>
        </p:nvSpPr>
        <p:spPr>
          <a:xfrm>
            <a:off x="640080" y="332165"/>
            <a:ext cx="17038320" cy="1052596"/>
          </a:xfrm>
          <a:prstGeom prst="rect">
            <a:avLst/>
          </a:prstGeom>
          <a:noFill/>
          <a:ln>
            <a:noFill/>
          </a:ln>
        </p:spPr>
        <p:txBody>
          <a:bodyPr spcFirstLastPara="1" wrap="square" lIns="0" tIns="0" rIns="0" bIns="0" anchor="t" anchorCtr="0">
            <a:spAutoFit/>
          </a:bodyPr>
          <a:lstStyle/>
          <a:p>
            <a:pPr marL="0" marR="0" lvl="0" indent="0" algn="ctr" rtl="0">
              <a:lnSpc>
                <a:spcPct val="119982"/>
              </a:lnSpc>
              <a:spcBef>
                <a:spcPts val="0"/>
              </a:spcBef>
              <a:spcAft>
                <a:spcPts val="0"/>
              </a:spcAft>
              <a:buNone/>
            </a:pPr>
            <a:r>
              <a:rPr lang="en-US" sz="5700" b="1" i="0" u="none" strike="noStrike" cap="none" dirty="0">
                <a:solidFill>
                  <a:srgbClr val="000000"/>
                </a:solidFill>
                <a:latin typeface="Arial"/>
                <a:ea typeface="Arial"/>
                <a:cs typeface="Arial"/>
                <a:sym typeface="Arial"/>
              </a:rPr>
              <a:t>Dataset Description</a:t>
            </a:r>
            <a:endParaRPr dirty="0"/>
          </a:p>
        </p:txBody>
      </p:sp>
      <p:sp>
        <p:nvSpPr>
          <p:cNvPr id="181" name="Google Shape;181;p10"/>
          <p:cNvSpPr txBox="1"/>
          <p:nvPr/>
        </p:nvSpPr>
        <p:spPr>
          <a:xfrm>
            <a:off x="244875" y="1703512"/>
            <a:ext cx="18043125" cy="6162675"/>
          </a:xfrm>
          <a:prstGeom prst="rect">
            <a:avLst/>
          </a:prstGeom>
          <a:noFill/>
          <a:ln>
            <a:noFill/>
          </a:ln>
        </p:spPr>
        <p:txBody>
          <a:bodyPr spcFirstLastPara="1" wrap="square" lIns="0" tIns="0" rIns="0" bIns="0" anchor="t" anchorCtr="0">
            <a:spAutoFit/>
          </a:bodyPr>
          <a:lstStyle/>
          <a:p>
            <a:pPr marL="737308" marR="0" lvl="1" indent="-368654" algn="just" rtl="0">
              <a:lnSpc>
                <a:spcPct val="120000"/>
              </a:lnSpc>
              <a:spcBef>
                <a:spcPts val="0"/>
              </a:spcBef>
              <a:spcAft>
                <a:spcPts val="0"/>
              </a:spcAft>
              <a:buClr>
                <a:srgbClr val="000000"/>
              </a:buClr>
              <a:buSzPts val="3415"/>
              <a:buFont typeface="Arial"/>
              <a:buChar char="•"/>
            </a:pPr>
            <a:r>
              <a:rPr lang="en-US" sz="3415" b="1" i="0" u="none" strike="noStrike" cap="none" dirty="0">
                <a:solidFill>
                  <a:srgbClr val="000000"/>
                </a:solidFill>
                <a:latin typeface="Arial"/>
                <a:ea typeface="Arial"/>
                <a:cs typeface="Arial"/>
                <a:sym typeface="Arial"/>
              </a:rPr>
              <a:t>Data Source  :  </a:t>
            </a:r>
            <a:r>
              <a:rPr lang="en-US" sz="3415" b="0" i="0" u="none" strike="noStrike" cap="none" dirty="0">
                <a:solidFill>
                  <a:srgbClr val="000000"/>
                </a:solidFill>
                <a:latin typeface="Arial"/>
                <a:ea typeface="Arial"/>
                <a:cs typeface="Arial"/>
                <a:sym typeface="Arial"/>
              </a:rPr>
              <a:t>UCI Machine leaning repository </a:t>
            </a:r>
            <a:endParaRPr dirty="0"/>
          </a:p>
          <a:p>
            <a:pPr marL="0" marR="0" lvl="0" indent="0" algn="just" rtl="0">
              <a:lnSpc>
                <a:spcPct val="120000"/>
              </a:lnSpc>
              <a:spcBef>
                <a:spcPts val="0"/>
              </a:spcBef>
              <a:spcAft>
                <a:spcPts val="0"/>
              </a:spcAft>
              <a:buNone/>
            </a:pPr>
            <a:endParaRPr sz="3415" b="0" i="0" u="none" strike="noStrike" cap="none" dirty="0">
              <a:solidFill>
                <a:srgbClr val="000000"/>
              </a:solidFill>
              <a:latin typeface="Arial"/>
              <a:ea typeface="Arial"/>
              <a:cs typeface="Arial"/>
              <a:sym typeface="Arial"/>
            </a:endParaRPr>
          </a:p>
          <a:p>
            <a:pPr marL="737308" marR="0" lvl="1" indent="-368654" algn="just" rtl="0">
              <a:lnSpc>
                <a:spcPct val="120000"/>
              </a:lnSpc>
              <a:spcBef>
                <a:spcPts val="0"/>
              </a:spcBef>
              <a:spcAft>
                <a:spcPts val="0"/>
              </a:spcAft>
              <a:buClr>
                <a:srgbClr val="000000"/>
              </a:buClr>
              <a:buSzPts val="3415"/>
              <a:buFont typeface="Arial"/>
              <a:buChar char="•"/>
            </a:pPr>
            <a:r>
              <a:rPr lang="en-US" sz="3415" b="1" i="0" u="none" strike="noStrike" cap="none" dirty="0">
                <a:solidFill>
                  <a:srgbClr val="000000"/>
                </a:solidFill>
                <a:latin typeface="Arial"/>
                <a:ea typeface="Arial"/>
                <a:cs typeface="Arial"/>
                <a:sym typeface="Arial"/>
              </a:rPr>
              <a:t>Data set Name  :  </a:t>
            </a:r>
            <a:r>
              <a:rPr lang="en-US" sz="3415" b="0" i="0" u="none" strike="noStrike" cap="none" dirty="0">
                <a:solidFill>
                  <a:srgbClr val="000000"/>
                </a:solidFill>
                <a:latin typeface="Arial"/>
                <a:ea typeface="Arial"/>
                <a:cs typeface="Arial"/>
                <a:sym typeface="Arial"/>
              </a:rPr>
              <a:t>Heart disease dataset [Cleveland ]</a:t>
            </a:r>
            <a:endParaRPr dirty="0"/>
          </a:p>
          <a:p>
            <a:pPr marL="0" marR="0" lvl="0" indent="0" algn="just" rtl="0">
              <a:lnSpc>
                <a:spcPct val="120000"/>
              </a:lnSpc>
              <a:spcBef>
                <a:spcPts val="0"/>
              </a:spcBef>
              <a:spcAft>
                <a:spcPts val="0"/>
              </a:spcAft>
              <a:buNone/>
            </a:pPr>
            <a:endParaRPr sz="3415" b="0" i="0" u="none" strike="noStrike" cap="none" dirty="0">
              <a:solidFill>
                <a:srgbClr val="000000"/>
              </a:solidFill>
              <a:latin typeface="Arial"/>
              <a:ea typeface="Arial"/>
              <a:cs typeface="Arial"/>
              <a:sym typeface="Arial"/>
            </a:endParaRPr>
          </a:p>
          <a:p>
            <a:pPr marL="737308" marR="0" lvl="1" indent="-368654" algn="just" rtl="0">
              <a:lnSpc>
                <a:spcPct val="120000"/>
              </a:lnSpc>
              <a:spcBef>
                <a:spcPts val="0"/>
              </a:spcBef>
              <a:spcAft>
                <a:spcPts val="0"/>
              </a:spcAft>
              <a:buClr>
                <a:srgbClr val="000000"/>
              </a:buClr>
              <a:buSzPts val="3415"/>
              <a:buFont typeface="Arial"/>
              <a:buChar char="•"/>
            </a:pPr>
            <a:r>
              <a:rPr lang="en-US" sz="3415" b="1" i="0" u="none" strike="noStrike" cap="none" dirty="0">
                <a:solidFill>
                  <a:srgbClr val="000000"/>
                </a:solidFill>
                <a:latin typeface="Arial"/>
                <a:ea typeface="Arial"/>
                <a:cs typeface="Arial"/>
                <a:sym typeface="Arial"/>
              </a:rPr>
              <a:t>Total Records  : </a:t>
            </a:r>
            <a:r>
              <a:rPr lang="en-US" sz="3415" b="0" i="0" u="none" strike="noStrike" cap="none" dirty="0">
                <a:solidFill>
                  <a:srgbClr val="000000"/>
                </a:solidFill>
                <a:latin typeface="Arial"/>
                <a:ea typeface="Arial"/>
                <a:cs typeface="Arial"/>
                <a:sym typeface="Arial"/>
              </a:rPr>
              <a:t> 303</a:t>
            </a:r>
            <a:endParaRPr dirty="0"/>
          </a:p>
          <a:p>
            <a:pPr marL="0" marR="0" lvl="0" indent="0" algn="just" rtl="0">
              <a:lnSpc>
                <a:spcPct val="120000"/>
              </a:lnSpc>
              <a:spcBef>
                <a:spcPts val="0"/>
              </a:spcBef>
              <a:spcAft>
                <a:spcPts val="0"/>
              </a:spcAft>
              <a:buNone/>
            </a:pPr>
            <a:endParaRPr sz="3415" b="0" i="0" u="none" strike="noStrike" cap="none" dirty="0">
              <a:solidFill>
                <a:srgbClr val="000000"/>
              </a:solidFill>
              <a:latin typeface="Arial"/>
              <a:ea typeface="Arial"/>
              <a:cs typeface="Arial"/>
              <a:sym typeface="Arial"/>
            </a:endParaRPr>
          </a:p>
          <a:p>
            <a:pPr marL="737308" marR="0" lvl="1" indent="-368654" algn="just" rtl="0">
              <a:lnSpc>
                <a:spcPct val="120000"/>
              </a:lnSpc>
              <a:spcBef>
                <a:spcPts val="0"/>
              </a:spcBef>
              <a:spcAft>
                <a:spcPts val="0"/>
              </a:spcAft>
              <a:buClr>
                <a:srgbClr val="000000"/>
              </a:buClr>
              <a:buSzPts val="3415"/>
              <a:buFont typeface="Arial"/>
              <a:buChar char="•"/>
            </a:pPr>
            <a:r>
              <a:rPr lang="en-US" sz="3415" b="1" i="0" u="none" strike="noStrike" cap="none" dirty="0">
                <a:solidFill>
                  <a:srgbClr val="000000"/>
                </a:solidFill>
                <a:latin typeface="Arial"/>
                <a:ea typeface="Arial"/>
                <a:cs typeface="Arial"/>
                <a:sym typeface="Arial"/>
              </a:rPr>
              <a:t>Attributes  :  </a:t>
            </a:r>
            <a:r>
              <a:rPr lang="en-US" sz="3415" b="0" i="0" u="none" strike="noStrike" cap="none" dirty="0">
                <a:solidFill>
                  <a:srgbClr val="000000"/>
                </a:solidFill>
                <a:latin typeface="Arial"/>
                <a:ea typeface="Arial"/>
                <a:cs typeface="Arial"/>
                <a:sym typeface="Arial"/>
              </a:rPr>
              <a:t>14 [ age , sex,  chest pain, blood pressure , cholesterol , etc. ]</a:t>
            </a:r>
            <a:endParaRPr dirty="0"/>
          </a:p>
          <a:p>
            <a:pPr marL="0" marR="0" lvl="0" indent="0" algn="just" rtl="0">
              <a:lnSpc>
                <a:spcPct val="120000"/>
              </a:lnSpc>
              <a:spcBef>
                <a:spcPts val="0"/>
              </a:spcBef>
              <a:spcAft>
                <a:spcPts val="0"/>
              </a:spcAft>
              <a:buNone/>
            </a:pPr>
            <a:endParaRPr sz="3415" b="0" i="0" u="none" strike="noStrike" cap="none" dirty="0">
              <a:solidFill>
                <a:srgbClr val="000000"/>
              </a:solidFill>
              <a:latin typeface="Arial"/>
              <a:ea typeface="Arial"/>
              <a:cs typeface="Arial"/>
              <a:sym typeface="Arial"/>
            </a:endParaRPr>
          </a:p>
          <a:p>
            <a:pPr marL="737308" marR="0" lvl="1" indent="-368654" algn="just" rtl="0">
              <a:lnSpc>
                <a:spcPct val="120000"/>
              </a:lnSpc>
              <a:spcBef>
                <a:spcPts val="0"/>
              </a:spcBef>
              <a:spcAft>
                <a:spcPts val="0"/>
              </a:spcAft>
              <a:buClr>
                <a:srgbClr val="000000"/>
              </a:buClr>
              <a:buSzPts val="3415"/>
              <a:buFont typeface="Arial"/>
              <a:buChar char="•"/>
            </a:pPr>
            <a:r>
              <a:rPr lang="en-US" sz="3415" b="1" i="0" u="none" strike="noStrike" cap="none" dirty="0">
                <a:solidFill>
                  <a:srgbClr val="000000"/>
                </a:solidFill>
                <a:latin typeface="Arial"/>
                <a:ea typeface="Arial"/>
                <a:cs typeface="Arial"/>
                <a:sym typeface="Arial"/>
              </a:rPr>
              <a:t>Target Variable  :</a:t>
            </a:r>
            <a:r>
              <a:rPr lang="en-US" sz="3415" b="0" i="0" u="none" strike="noStrike" cap="none" dirty="0">
                <a:solidFill>
                  <a:srgbClr val="000000"/>
                </a:solidFill>
                <a:latin typeface="Arial"/>
                <a:ea typeface="Arial"/>
                <a:cs typeface="Arial"/>
                <a:sym typeface="Arial"/>
              </a:rPr>
              <a:t>  1 - Presence of heart disease  and 0 - No heart disease</a:t>
            </a:r>
            <a:endParaRPr dirty="0"/>
          </a:p>
          <a:p>
            <a:pPr marL="0" marR="0" lvl="0" indent="0" algn="just" rtl="0">
              <a:lnSpc>
                <a:spcPct val="120000"/>
              </a:lnSpc>
              <a:spcBef>
                <a:spcPts val="0"/>
              </a:spcBef>
              <a:spcAft>
                <a:spcPts val="0"/>
              </a:spcAft>
              <a:buNone/>
            </a:pPr>
            <a:endParaRPr sz="3415" b="0" i="0" u="none" strike="noStrike" cap="none" dirty="0">
              <a:solidFill>
                <a:srgbClr val="000000"/>
              </a:solidFill>
              <a:latin typeface="Arial"/>
              <a:ea typeface="Arial"/>
              <a:cs typeface="Arial"/>
              <a:sym typeface="Arial"/>
            </a:endParaRPr>
          </a:p>
          <a:p>
            <a:pPr marL="737308" marR="0" lvl="1" indent="-368654" algn="just" rtl="0">
              <a:lnSpc>
                <a:spcPct val="120000"/>
              </a:lnSpc>
              <a:spcBef>
                <a:spcPts val="0"/>
              </a:spcBef>
              <a:spcAft>
                <a:spcPts val="0"/>
              </a:spcAft>
              <a:buClr>
                <a:srgbClr val="000000"/>
              </a:buClr>
              <a:buSzPts val="3415"/>
              <a:buFont typeface="Arial"/>
              <a:buChar char="•"/>
            </a:pPr>
            <a:r>
              <a:rPr lang="en-US" sz="3415" b="1" i="0" u="none" strike="noStrike" cap="none" dirty="0">
                <a:solidFill>
                  <a:srgbClr val="000000"/>
                </a:solidFill>
                <a:latin typeface="Arial"/>
                <a:ea typeface="Arial"/>
                <a:cs typeface="Arial"/>
                <a:sym typeface="Arial"/>
              </a:rPr>
              <a:t>Key features :</a:t>
            </a:r>
            <a:r>
              <a:rPr lang="en-US" sz="3415" b="0" i="0" u="none" strike="noStrike" cap="none" dirty="0">
                <a:solidFill>
                  <a:srgbClr val="000000"/>
                </a:solidFill>
                <a:latin typeface="Arial"/>
                <a:ea typeface="Arial"/>
                <a:cs typeface="Arial"/>
                <a:sym typeface="Arial"/>
              </a:rPr>
              <a:t>  Age, sex, chest pain type(cp), resting BP(</a:t>
            </a:r>
            <a:r>
              <a:rPr lang="en-US" sz="3415" b="0" i="0" u="none" strike="noStrike" cap="none" dirty="0" err="1">
                <a:solidFill>
                  <a:srgbClr val="000000"/>
                </a:solidFill>
                <a:latin typeface="Arial"/>
                <a:ea typeface="Arial"/>
                <a:cs typeface="Arial"/>
                <a:sym typeface="Arial"/>
              </a:rPr>
              <a:t>trestbps</a:t>
            </a:r>
            <a:r>
              <a:rPr lang="en-US" sz="3415" b="0" i="0" u="none" strike="noStrike" cap="none" dirty="0">
                <a:solidFill>
                  <a:srgbClr val="000000"/>
                </a:solidFill>
                <a:latin typeface="Arial"/>
                <a:ea typeface="Arial"/>
                <a:cs typeface="Arial"/>
                <a:sym typeface="Arial"/>
              </a:rPr>
              <a:t>), cholesterol(</a:t>
            </a:r>
            <a:r>
              <a:rPr lang="en-US" sz="3415" b="0" i="0" u="none" strike="noStrike" cap="none" dirty="0" err="1">
                <a:solidFill>
                  <a:srgbClr val="000000"/>
                </a:solidFill>
                <a:latin typeface="Arial"/>
                <a:ea typeface="Arial"/>
                <a:cs typeface="Arial"/>
                <a:sym typeface="Arial"/>
              </a:rPr>
              <a:t>chol</a:t>
            </a:r>
            <a:r>
              <a:rPr lang="en-US" sz="3415" b="0" i="0" u="none" strike="noStrike" cap="none" dirty="0">
                <a:solidFill>
                  <a:srgbClr val="000000"/>
                </a:solidFill>
                <a:latin typeface="Arial"/>
                <a:ea typeface="Arial"/>
                <a:cs typeface="Arial"/>
                <a:sym typeface="Arial"/>
              </a:rPr>
              <a:t>), Fasting blood sugar, Resting ECG, Max heart rate, Exercise Angina, </a:t>
            </a:r>
            <a:r>
              <a:rPr lang="en-US" sz="3415" b="0" i="0" u="none" strike="noStrike" cap="none" dirty="0" err="1">
                <a:solidFill>
                  <a:srgbClr val="000000"/>
                </a:solidFill>
                <a:latin typeface="Arial"/>
                <a:ea typeface="Arial"/>
                <a:cs typeface="Arial"/>
                <a:sym typeface="Arial"/>
              </a:rPr>
              <a:t>Oldpeak</a:t>
            </a:r>
            <a:r>
              <a:rPr lang="en-US" sz="3415" b="0" i="0" u="none" strike="noStrike" cap="none" dirty="0">
                <a:solidFill>
                  <a:srgbClr val="000000"/>
                </a:solidFill>
                <a:latin typeface="Arial"/>
                <a:ea typeface="Arial"/>
                <a:cs typeface="Arial"/>
                <a:sym typeface="Arial"/>
              </a:rPr>
              <a:t>, Slope, Ca, Thal</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1"/>
          <p:cNvSpPr/>
          <p:nvPr/>
        </p:nvSpPr>
        <p:spPr>
          <a:xfrm>
            <a:off x="-121920" y="-121920"/>
            <a:ext cx="18630615" cy="10561320"/>
          </a:xfrm>
          <a:custGeom>
            <a:avLst/>
            <a:gdLst/>
            <a:ahLst/>
            <a:cxnLst/>
            <a:rect l="l" t="t" r="r" b="b"/>
            <a:pathLst>
              <a:path w="24377650" h="13709650" extrusionOk="0">
                <a:moveTo>
                  <a:pt x="0" y="0"/>
                </a:moveTo>
                <a:lnTo>
                  <a:pt x="24377650" y="0"/>
                </a:lnTo>
                <a:lnTo>
                  <a:pt x="24377650" y="13709650"/>
                </a:lnTo>
                <a:lnTo>
                  <a:pt x="0" y="13709650"/>
                </a:lnTo>
                <a:lnTo>
                  <a:pt x="0" y="0"/>
                </a:lnTo>
                <a:close/>
              </a:path>
            </a:pathLst>
          </a:custGeom>
          <a:blipFill rotWithShape="1">
            <a:blip r:embed="rId3">
              <a:alphaModFix/>
            </a:blip>
            <a:stretch>
              <a:fillRect t="-9" b="-8"/>
            </a:stretch>
          </a:blipFill>
          <a:ln>
            <a:noFill/>
          </a:ln>
        </p:spPr>
        <p:txBody>
          <a:bodyPr/>
          <a:lstStyle/>
          <a:p>
            <a:endParaRPr lang="en-IN" dirty="0"/>
          </a:p>
        </p:txBody>
      </p:sp>
      <p:sp>
        <p:nvSpPr>
          <p:cNvPr id="187" name="Google Shape;187;p11"/>
          <p:cNvSpPr txBox="1"/>
          <p:nvPr/>
        </p:nvSpPr>
        <p:spPr>
          <a:xfrm>
            <a:off x="942669" y="1924290"/>
            <a:ext cx="160734" cy="6096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900" b="0" i="0" u="none" strike="noStrike" cap="none">
                <a:solidFill>
                  <a:srgbClr val="FFFFFF"/>
                </a:solidFill>
                <a:latin typeface="Arial"/>
                <a:ea typeface="Arial"/>
                <a:cs typeface="Arial"/>
                <a:sym typeface="Arial"/>
              </a:rPr>
              <a:t>•</a:t>
            </a:r>
            <a:endParaRPr/>
          </a:p>
        </p:txBody>
      </p:sp>
      <p:sp>
        <p:nvSpPr>
          <p:cNvPr id="188" name="Google Shape;188;p11"/>
          <p:cNvSpPr txBox="1"/>
          <p:nvPr/>
        </p:nvSpPr>
        <p:spPr>
          <a:xfrm>
            <a:off x="856944" y="3345702"/>
            <a:ext cx="160734" cy="6096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900" b="0" i="0" u="none" strike="noStrike" cap="none">
                <a:solidFill>
                  <a:srgbClr val="FFFFFF"/>
                </a:solidFill>
                <a:latin typeface="Arial"/>
                <a:ea typeface="Arial"/>
                <a:cs typeface="Arial"/>
                <a:sym typeface="Arial"/>
              </a:rPr>
              <a:t>•</a:t>
            </a:r>
            <a:endParaRPr/>
          </a:p>
        </p:txBody>
      </p:sp>
      <p:sp>
        <p:nvSpPr>
          <p:cNvPr id="189" name="Google Shape;189;p11"/>
          <p:cNvSpPr txBox="1"/>
          <p:nvPr/>
        </p:nvSpPr>
        <p:spPr>
          <a:xfrm>
            <a:off x="856944" y="4763975"/>
            <a:ext cx="160734" cy="6096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900" b="0" i="0" u="none" strike="noStrike" cap="none">
                <a:solidFill>
                  <a:srgbClr val="FFFFFF"/>
                </a:solidFill>
                <a:latin typeface="Arial"/>
                <a:ea typeface="Arial"/>
                <a:cs typeface="Arial"/>
                <a:sym typeface="Arial"/>
              </a:rPr>
              <a:t>•</a:t>
            </a:r>
            <a:endParaRPr/>
          </a:p>
        </p:txBody>
      </p:sp>
      <p:sp>
        <p:nvSpPr>
          <p:cNvPr id="190" name="Google Shape;190;p11"/>
          <p:cNvSpPr txBox="1"/>
          <p:nvPr/>
        </p:nvSpPr>
        <p:spPr>
          <a:xfrm>
            <a:off x="484444" y="5982383"/>
            <a:ext cx="11342484" cy="1543050"/>
          </a:xfrm>
          <a:prstGeom prst="rect">
            <a:avLst/>
          </a:prstGeom>
          <a:noFill/>
          <a:ln>
            <a:noFill/>
          </a:ln>
        </p:spPr>
        <p:txBody>
          <a:bodyPr spcFirstLastPara="1" wrap="square" lIns="0" tIns="0" rIns="0" bIns="0" anchor="t" anchorCtr="0">
            <a:spAutoFit/>
          </a:bodyPr>
          <a:lstStyle/>
          <a:p>
            <a:pPr marL="707072" marR="0" lvl="1" indent="-353536" algn="l" rtl="0">
              <a:lnSpc>
                <a:spcPct val="120000"/>
              </a:lnSpc>
              <a:spcBef>
                <a:spcPts val="0"/>
              </a:spcBef>
              <a:spcAft>
                <a:spcPts val="0"/>
              </a:spcAft>
              <a:buClr>
                <a:srgbClr val="FFFFFF"/>
              </a:buClr>
              <a:buSzPts val="3900"/>
              <a:buFont typeface="Arial"/>
              <a:buChar char="•"/>
            </a:pPr>
            <a:r>
              <a:rPr lang="en-US" sz="3900" b="1" i="0" u="none" strike="noStrike" cap="none" dirty="0">
                <a:solidFill>
                  <a:srgbClr val="FFFFFF"/>
                </a:solidFill>
                <a:latin typeface="Calibri"/>
                <a:ea typeface="Calibri"/>
                <a:cs typeface="Calibri"/>
                <a:sym typeface="Calibri"/>
              </a:rPr>
              <a:t>Step 4:</a:t>
            </a:r>
            <a:endParaRPr dirty="0"/>
          </a:p>
          <a:p>
            <a:pPr marL="1222955" marR="0" lvl="2" indent="-407651" algn="l" rtl="0">
              <a:lnSpc>
                <a:spcPct val="120000"/>
              </a:lnSpc>
              <a:spcBef>
                <a:spcPts val="0"/>
              </a:spcBef>
              <a:spcAft>
                <a:spcPts val="0"/>
              </a:spcAft>
              <a:buClr>
                <a:srgbClr val="FFFFFF"/>
              </a:buClr>
              <a:buSzPts val="2930"/>
              <a:buFont typeface="Calibri"/>
              <a:buAutoNum type="romanLcPeriod"/>
            </a:pPr>
            <a:r>
              <a:rPr lang="en-US" sz="2930" b="1" i="0" u="none" strike="noStrike" cap="none" dirty="0">
                <a:solidFill>
                  <a:srgbClr val="FFFFFF"/>
                </a:solidFill>
                <a:latin typeface="Calibri"/>
                <a:ea typeface="Calibri"/>
                <a:cs typeface="Calibri"/>
                <a:sym typeface="Calibri"/>
              </a:rPr>
              <a:t>Evaluation </a:t>
            </a:r>
            <a:r>
              <a:rPr lang="en-US" sz="2930" b="0" i="0" u="none" strike="noStrike" cap="none" dirty="0">
                <a:solidFill>
                  <a:srgbClr val="FFFFFF"/>
                </a:solidFill>
                <a:latin typeface="Calibri"/>
                <a:ea typeface="Calibri"/>
                <a:cs typeface="Calibri"/>
                <a:sym typeface="Calibri"/>
              </a:rPr>
              <a:t>- Test on 20% unseen data</a:t>
            </a:r>
            <a:endParaRPr dirty="0"/>
          </a:p>
          <a:p>
            <a:pPr marL="1200800" marR="0" lvl="2" indent="-400266" algn="l" rtl="0">
              <a:lnSpc>
                <a:spcPct val="120000"/>
              </a:lnSpc>
              <a:spcBef>
                <a:spcPts val="0"/>
              </a:spcBef>
              <a:spcAft>
                <a:spcPts val="0"/>
              </a:spcAft>
              <a:buClr>
                <a:srgbClr val="FFFFFF"/>
              </a:buClr>
              <a:buSzPts val="2930"/>
              <a:buFont typeface="Calibri"/>
              <a:buAutoNum type="romanLcPeriod"/>
            </a:pPr>
            <a:r>
              <a:rPr lang="en-US" sz="2930" b="0" i="0" u="none" strike="noStrike" cap="none" dirty="0">
                <a:solidFill>
                  <a:srgbClr val="FFFFFF"/>
                </a:solidFill>
                <a:latin typeface="Calibri"/>
                <a:ea typeface="Calibri"/>
                <a:cs typeface="Calibri"/>
                <a:sym typeface="Calibri"/>
              </a:rPr>
              <a:t>Measure  accuracy ,  confusion  matrix,  recall,  and  F1 - score</a:t>
            </a:r>
            <a:endParaRPr dirty="0"/>
          </a:p>
        </p:txBody>
      </p:sp>
      <p:sp>
        <p:nvSpPr>
          <p:cNvPr id="191" name="Google Shape;191;p11"/>
          <p:cNvSpPr txBox="1"/>
          <p:nvPr/>
        </p:nvSpPr>
        <p:spPr>
          <a:xfrm>
            <a:off x="1307286" y="1828087"/>
            <a:ext cx="11865306" cy="1104900"/>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3899" b="1" i="0" u="none" strike="noStrike" cap="none" dirty="0">
                <a:solidFill>
                  <a:srgbClr val="FFFFFF"/>
                </a:solidFill>
                <a:latin typeface="Calibri"/>
                <a:ea typeface="Calibri"/>
                <a:cs typeface="Calibri"/>
                <a:sym typeface="Calibri"/>
              </a:rPr>
              <a:t>Step 1:</a:t>
            </a:r>
            <a:endParaRPr dirty="0"/>
          </a:p>
          <a:p>
            <a:pPr marL="0" marR="0" lvl="0" indent="0" algn="l" rtl="0">
              <a:lnSpc>
                <a:spcPct val="120000"/>
              </a:lnSpc>
              <a:spcBef>
                <a:spcPts val="0"/>
              </a:spcBef>
              <a:spcAft>
                <a:spcPts val="0"/>
              </a:spcAft>
              <a:buNone/>
            </a:pPr>
            <a:r>
              <a:rPr lang="en-US" sz="2925" b="1" i="0" u="none" strike="noStrike" cap="none" dirty="0">
                <a:solidFill>
                  <a:srgbClr val="FFFFFF"/>
                </a:solidFill>
                <a:latin typeface="Calibri"/>
                <a:ea typeface="Calibri"/>
                <a:cs typeface="Calibri"/>
                <a:sym typeface="Calibri"/>
              </a:rPr>
              <a:t>Data collection</a:t>
            </a:r>
            <a:r>
              <a:rPr lang="en-US" sz="2925" b="0" i="0" u="none" strike="noStrike" cap="none" dirty="0">
                <a:solidFill>
                  <a:srgbClr val="FFFFFF"/>
                </a:solidFill>
                <a:latin typeface="Calibri"/>
                <a:ea typeface="Calibri"/>
                <a:cs typeface="Calibri"/>
                <a:sym typeface="Calibri"/>
              </a:rPr>
              <a:t>- dataset downloaded from UCI repository</a:t>
            </a:r>
            <a:endParaRPr dirty="0"/>
          </a:p>
        </p:txBody>
      </p:sp>
      <p:sp>
        <p:nvSpPr>
          <p:cNvPr id="192" name="Google Shape;192;p11"/>
          <p:cNvSpPr txBox="1"/>
          <p:nvPr/>
        </p:nvSpPr>
        <p:spPr>
          <a:xfrm>
            <a:off x="1307286" y="3242698"/>
            <a:ext cx="12972453" cy="11049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900" b="1" i="0" u="none" strike="noStrike" cap="none">
                <a:solidFill>
                  <a:srgbClr val="FFFFFF"/>
                </a:solidFill>
                <a:latin typeface="Calibri"/>
                <a:ea typeface="Calibri"/>
                <a:cs typeface="Calibri"/>
                <a:sym typeface="Calibri"/>
              </a:rPr>
              <a:t>S tep 2:</a:t>
            </a:r>
            <a:endParaRPr/>
          </a:p>
          <a:p>
            <a:pPr marL="0" marR="0" lvl="0" indent="0" algn="l" rtl="0">
              <a:lnSpc>
                <a:spcPct val="120000"/>
              </a:lnSpc>
              <a:spcBef>
                <a:spcPts val="0"/>
              </a:spcBef>
              <a:spcAft>
                <a:spcPts val="0"/>
              </a:spcAft>
              <a:buNone/>
            </a:pPr>
            <a:r>
              <a:rPr lang="en-US" sz="2925" b="1" i="0" u="none" strike="noStrike" cap="none">
                <a:solidFill>
                  <a:srgbClr val="FFFFFF"/>
                </a:solidFill>
                <a:latin typeface="Calibri"/>
                <a:ea typeface="Calibri"/>
                <a:cs typeface="Calibri"/>
                <a:sym typeface="Calibri"/>
              </a:rPr>
              <a:t>Data preprocessing </a:t>
            </a:r>
            <a:r>
              <a:rPr lang="en-US" sz="2925" b="0" i="0" u="none" strike="noStrike" cap="none">
                <a:solidFill>
                  <a:srgbClr val="FFFFFF"/>
                </a:solidFill>
                <a:latin typeface="Calibri"/>
                <a:ea typeface="Calibri"/>
                <a:cs typeface="Calibri"/>
                <a:sym typeface="Calibri"/>
              </a:rPr>
              <a:t>- remove duplicates and handle missing values</a:t>
            </a:r>
            <a:endParaRPr/>
          </a:p>
        </p:txBody>
      </p:sp>
      <p:sp>
        <p:nvSpPr>
          <p:cNvPr id="193" name="Google Shape;193;p11"/>
          <p:cNvSpPr txBox="1"/>
          <p:nvPr/>
        </p:nvSpPr>
        <p:spPr>
          <a:xfrm>
            <a:off x="1307286" y="4661923"/>
            <a:ext cx="12698274" cy="126034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900" b="1" i="0" u="none" strike="noStrike" cap="none" dirty="0">
                <a:solidFill>
                  <a:srgbClr val="FFFFFF"/>
                </a:solidFill>
                <a:latin typeface="Calibri"/>
                <a:ea typeface="Calibri"/>
                <a:cs typeface="Calibri"/>
                <a:sym typeface="Calibri"/>
              </a:rPr>
              <a:t>Step 3:</a:t>
            </a:r>
            <a:endParaRPr dirty="0"/>
          </a:p>
          <a:p>
            <a:pPr marL="0" marR="0" lvl="0" indent="0" algn="l" rtl="0">
              <a:lnSpc>
                <a:spcPct val="120000"/>
              </a:lnSpc>
              <a:spcBef>
                <a:spcPts val="0"/>
              </a:spcBef>
              <a:spcAft>
                <a:spcPts val="0"/>
              </a:spcAft>
              <a:buNone/>
            </a:pPr>
            <a:r>
              <a:rPr lang="en-US" sz="2925" b="1" i="0" u="none" strike="noStrike" cap="none" dirty="0">
                <a:solidFill>
                  <a:srgbClr val="FFFFFF"/>
                </a:solidFill>
                <a:latin typeface="Calibri"/>
                <a:ea typeface="Calibri"/>
                <a:cs typeface="Calibri"/>
                <a:sym typeface="Calibri"/>
              </a:rPr>
              <a:t>Model  training	</a:t>
            </a:r>
            <a:r>
              <a:rPr lang="en-US" sz="2925" b="0" i="0" u="none" strike="noStrike" cap="none" dirty="0">
                <a:solidFill>
                  <a:srgbClr val="FFFFFF"/>
                </a:solidFill>
                <a:latin typeface="Calibri"/>
                <a:ea typeface="Calibri"/>
                <a:cs typeface="Calibri"/>
                <a:sym typeface="Calibri"/>
              </a:rPr>
              <a:t>- Train  the  logistic  regression model  on  80%  training  data</a:t>
            </a:r>
            <a:endParaRPr dirty="0"/>
          </a:p>
        </p:txBody>
      </p:sp>
      <p:sp>
        <p:nvSpPr>
          <p:cNvPr id="194" name="Google Shape;194;p11"/>
          <p:cNvSpPr txBox="1"/>
          <p:nvPr/>
        </p:nvSpPr>
        <p:spPr>
          <a:xfrm>
            <a:off x="-121920" y="323850"/>
            <a:ext cx="18630615" cy="1620444"/>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8775" b="1" i="0" u="none" strike="noStrike" cap="none" dirty="0">
                <a:solidFill>
                  <a:srgbClr val="FFFFFF"/>
                </a:solidFill>
                <a:latin typeface="Arial"/>
                <a:ea typeface="Arial"/>
                <a:cs typeface="Arial"/>
                <a:sym typeface="Arial"/>
              </a:rPr>
              <a:t>Workflow / Methodology</a:t>
            </a:r>
            <a:endParaRPr dirty="0"/>
          </a:p>
        </p:txBody>
      </p:sp>
      <p:sp>
        <p:nvSpPr>
          <p:cNvPr id="195" name="Google Shape;195;p11"/>
          <p:cNvSpPr txBox="1"/>
          <p:nvPr/>
        </p:nvSpPr>
        <p:spPr>
          <a:xfrm>
            <a:off x="484444" y="7949349"/>
            <a:ext cx="12210476" cy="1802288"/>
          </a:xfrm>
          <a:prstGeom prst="rect">
            <a:avLst/>
          </a:prstGeom>
          <a:noFill/>
          <a:ln>
            <a:noFill/>
          </a:ln>
        </p:spPr>
        <p:txBody>
          <a:bodyPr spcFirstLastPara="1" wrap="square" lIns="0" tIns="0" rIns="0" bIns="0" anchor="t" anchorCtr="0">
            <a:spAutoFit/>
          </a:bodyPr>
          <a:lstStyle/>
          <a:p>
            <a:pPr marL="842010" marR="0" lvl="1" indent="-421005" algn="just" rtl="0">
              <a:lnSpc>
                <a:spcPct val="120000"/>
              </a:lnSpc>
              <a:spcBef>
                <a:spcPts val="0"/>
              </a:spcBef>
              <a:spcAft>
                <a:spcPts val="0"/>
              </a:spcAft>
              <a:buClr>
                <a:srgbClr val="FFFFFF"/>
              </a:buClr>
              <a:buSzPts val="3900"/>
              <a:buFont typeface="Arial"/>
              <a:buChar char="•"/>
            </a:pPr>
            <a:r>
              <a:rPr lang="en-US" sz="3900" b="1" i="0" u="none" strike="noStrike" cap="none" dirty="0">
                <a:solidFill>
                  <a:srgbClr val="FFFFFF"/>
                </a:solidFill>
                <a:latin typeface="Arial"/>
                <a:ea typeface="Arial"/>
                <a:cs typeface="Arial"/>
                <a:sym typeface="Arial"/>
              </a:rPr>
              <a:t>Step 5 :</a:t>
            </a:r>
            <a:endParaRPr dirty="0"/>
          </a:p>
          <a:p>
            <a:pPr marL="0" marR="0" lvl="0" indent="0" algn="just" rtl="0">
              <a:lnSpc>
                <a:spcPct val="120000"/>
              </a:lnSpc>
              <a:spcBef>
                <a:spcPts val="0"/>
              </a:spcBef>
              <a:spcAft>
                <a:spcPts val="0"/>
              </a:spcAft>
              <a:buNone/>
            </a:pPr>
            <a:r>
              <a:rPr lang="en-US" sz="2930" b="0" i="0" u="none" strike="noStrike" cap="none" dirty="0">
                <a:solidFill>
                  <a:srgbClr val="FFFFFF"/>
                </a:solidFill>
                <a:latin typeface="Arial"/>
                <a:ea typeface="Arial"/>
                <a:cs typeface="Arial"/>
                <a:sym typeface="Arial"/>
              </a:rPr>
              <a:t>        Prediction - Predict  if  a  patients  likely  to  have  CAD  using                    </a:t>
            </a:r>
            <a:r>
              <a:rPr lang="en-US" sz="2930" dirty="0">
                <a:solidFill>
                  <a:srgbClr val="FFFFFF"/>
                </a:solidFill>
              </a:rPr>
              <a:t>  in</a:t>
            </a:r>
            <a:r>
              <a:rPr lang="en-US" sz="2930" b="0" i="0" u="none" strike="noStrike" cap="none" dirty="0">
                <a:solidFill>
                  <a:srgbClr val="FFFFFF"/>
                </a:solidFill>
                <a:latin typeface="Arial"/>
                <a:ea typeface="Arial"/>
                <a:cs typeface="Arial"/>
                <a:sym typeface="Arial"/>
              </a:rPr>
              <a:t>put  parameters .</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2"/>
          <p:cNvSpPr/>
          <p:nvPr/>
        </p:nvSpPr>
        <p:spPr>
          <a:xfrm>
            <a:off x="1830587" y="1520035"/>
            <a:ext cx="14626781" cy="8569166"/>
          </a:xfrm>
          <a:custGeom>
            <a:avLst/>
            <a:gdLst/>
            <a:ahLst/>
            <a:cxnLst/>
            <a:rect l="l" t="t" r="r" b="b"/>
            <a:pathLst>
              <a:path w="19502374" h="11425555" extrusionOk="0">
                <a:moveTo>
                  <a:pt x="0" y="0"/>
                </a:moveTo>
                <a:lnTo>
                  <a:pt x="19502374" y="0"/>
                </a:lnTo>
                <a:lnTo>
                  <a:pt x="19502374" y="11425555"/>
                </a:lnTo>
                <a:lnTo>
                  <a:pt x="0" y="11425555"/>
                </a:lnTo>
                <a:lnTo>
                  <a:pt x="0" y="0"/>
                </a:lnTo>
                <a:close/>
              </a:path>
            </a:pathLst>
          </a:custGeom>
          <a:blipFill rotWithShape="1">
            <a:blip r:embed="rId3">
              <a:alphaModFix/>
            </a:blip>
            <a:stretch>
              <a:fillRect t="-68" b="-68"/>
            </a:stretch>
          </a:blipFill>
          <a:ln>
            <a:noFill/>
          </a:ln>
        </p:spPr>
      </p:sp>
      <p:sp>
        <p:nvSpPr>
          <p:cNvPr id="201" name="Google Shape;201;p12"/>
          <p:cNvSpPr txBox="1"/>
          <p:nvPr/>
        </p:nvSpPr>
        <p:spPr>
          <a:xfrm>
            <a:off x="618100" y="511088"/>
            <a:ext cx="16268700" cy="2309671"/>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750" b="1" i="0" u="none" strike="noStrike" cap="none">
                <a:solidFill>
                  <a:srgbClr val="000000"/>
                </a:solidFill>
                <a:latin typeface="Arial"/>
                <a:ea typeface="Arial"/>
                <a:cs typeface="Arial"/>
                <a:sym typeface="Arial"/>
              </a:rPr>
              <a:t>Heat map to see the see the relations between each atrribute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3"/>
          <p:cNvSpPr txBox="1"/>
          <p:nvPr/>
        </p:nvSpPr>
        <p:spPr>
          <a:xfrm>
            <a:off x="1009650" y="244476"/>
            <a:ext cx="6535103" cy="784224"/>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4350" b="1" i="0" u="none" strike="noStrike" cap="none">
                <a:solidFill>
                  <a:srgbClr val="000000"/>
                </a:solidFill>
                <a:latin typeface="Calibri"/>
                <a:ea typeface="Calibri"/>
                <a:cs typeface="Calibri"/>
                <a:sym typeface="Calibri"/>
              </a:rPr>
              <a:t>Splitting and Model Training</a:t>
            </a:r>
            <a:endParaRPr/>
          </a:p>
        </p:txBody>
      </p:sp>
      <p:sp>
        <p:nvSpPr>
          <p:cNvPr id="207" name="Google Shape;207;p13"/>
          <p:cNvSpPr txBox="1"/>
          <p:nvPr/>
        </p:nvSpPr>
        <p:spPr>
          <a:xfrm>
            <a:off x="1009650" y="1666548"/>
            <a:ext cx="7498080" cy="613270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900" b="1" i="0" u="none" strike="noStrike" cap="none">
                <a:solidFill>
                  <a:srgbClr val="000000"/>
                </a:solidFill>
                <a:latin typeface="Calibri"/>
                <a:ea typeface="Calibri"/>
                <a:cs typeface="Calibri"/>
                <a:sym typeface="Calibri"/>
              </a:rPr>
              <a:t>Explanation:</a:t>
            </a:r>
            <a:endParaRPr/>
          </a:p>
          <a:p>
            <a:pPr marL="895350" marR="0" lvl="1" indent="-447675" algn="l" rtl="0">
              <a:lnSpc>
                <a:spcPct val="237444"/>
              </a:lnSpc>
              <a:spcBef>
                <a:spcPts val="0"/>
              </a:spcBef>
              <a:spcAft>
                <a:spcPts val="0"/>
              </a:spcAft>
              <a:buClr>
                <a:srgbClr val="000000"/>
              </a:buClr>
              <a:buSzPts val="2700"/>
              <a:buFont typeface="Arial"/>
              <a:buChar char="•"/>
            </a:pPr>
            <a:r>
              <a:rPr lang="en-US" sz="2700" b="0" i="0" u="none" strike="noStrike" cap="none">
                <a:solidFill>
                  <a:srgbClr val="000000"/>
                </a:solidFill>
                <a:latin typeface="Arial"/>
                <a:ea typeface="Arial"/>
                <a:cs typeface="Arial"/>
                <a:sym typeface="Arial"/>
              </a:rPr>
              <a:t>Split data into 80% training and 20% testing.</a:t>
            </a:r>
            <a:endParaRPr/>
          </a:p>
          <a:p>
            <a:pPr marL="895350" marR="0" lvl="1" indent="-447675" algn="l" rtl="0">
              <a:lnSpc>
                <a:spcPct val="237444"/>
              </a:lnSpc>
              <a:spcBef>
                <a:spcPts val="0"/>
              </a:spcBef>
              <a:spcAft>
                <a:spcPts val="0"/>
              </a:spcAft>
              <a:buClr>
                <a:srgbClr val="000000"/>
              </a:buClr>
              <a:buSzPts val="2700"/>
              <a:buFont typeface="Arial"/>
              <a:buChar char="•"/>
            </a:pPr>
            <a:r>
              <a:rPr lang="en-US" sz="2700" b="0" i="0" u="none" strike="noStrike" cap="none">
                <a:solidFill>
                  <a:srgbClr val="000000"/>
                </a:solidFill>
                <a:latin typeface="Arial"/>
                <a:ea typeface="Arial"/>
                <a:cs typeface="Arial"/>
                <a:sym typeface="Arial"/>
              </a:rPr>
              <a:t> Standardized all numerical features.</a:t>
            </a:r>
            <a:endParaRPr/>
          </a:p>
          <a:p>
            <a:pPr marL="895350" marR="0" lvl="1" indent="-447675" algn="l" rtl="0">
              <a:lnSpc>
                <a:spcPct val="237444"/>
              </a:lnSpc>
              <a:spcBef>
                <a:spcPts val="0"/>
              </a:spcBef>
              <a:spcAft>
                <a:spcPts val="0"/>
              </a:spcAft>
              <a:buClr>
                <a:srgbClr val="000000"/>
              </a:buClr>
              <a:buSzPts val="2700"/>
              <a:buFont typeface="Arial"/>
              <a:buChar char="•"/>
            </a:pPr>
            <a:r>
              <a:rPr lang="en-US" sz="2700" b="0" i="0" u="none" strike="noStrike" cap="none">
                <a:solidFill>
                  <a:srgbClr val="000000"/>
                </a:solidFill>
                <a:latin typeface="Arial"/>
                <a:ea typeface="Arial"/>
                <a:cs typeface="Arial"/>
                <a:sym typeface="Arial"/>
              </a:rPr>
              <a:t>Trained Logistic Regression model, Decision tree, Random Forest, KNN, SVM, Adaboost on training data.</a:t>
            </a:r>
            <a:endParaRPr/>
          </a:p>
          <a:p>
            <a:pPr marL="895350" marR="0" lvl="1" indent="-447675" algn="l" rtl="0">
              <a:lnSpc>
                <a:spcPct val="237444"/>
              </a:lnSpc>
              <a:spcBef>
                <a:spcPts val="0"/>
              </a:spcBef>
              <a:spcAft>
                <a:spcPts val="0"/>
              </a:spcAft>
              <a:buClr>
                <a:srgbClr val="000000"/>
              </a:buClr>
              <a:buSzPts val="2700"/>
              <a:buFont typeface="Arial"/>
              <a:buChar char="•"/>
            </a:pPr>
            <a:r>
              <a:rPr lang="en-US" sz="2700" b="0" i="0" u="none" strike="noStrike" cap="none">
                <a:solidFill>
                  <a:srgbClr val="000000"/>
                </a:solidFill>
                <a:latin typeface="Arial"/>
                <a:ea typeface="Arial"/>
                <a:cs typeface="Arial"/>
                <a:sym typeface="Arial"/>
              </a:rPr>
              <a:t>Predicted results on the test data</a:t>
            </a:r>
            <a:endParaRPr/>
          </a:p>
        </p:txBody>
      </p:sp>
      <p:sp>
        <p:nvSpPr>
          <p:cNvPr id="208" name="Google Shape;208;p13"/>
          <p:cNvSpPr txBox="1"/>
          <p:nvPr/>
        </p:nvSpPr>
        <p:spPr>
          <a:xfrm>
            <a:off x="11623109" y="244477"/>
            <a:ext cx="4467225" cy="20669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4350" b="1" i="0" u="none" strike="noStrike" cap="none">
                <a:solidFill>
                  <a:srgbClr val="000000"/>
                </a:solidFill>
                <a:latin typeface="Calibri"/>
                <a:ea typeface="Calibri"/>
                <a:cs typeface="Calibri"/>
                <a:sym typeface="Calibri"/>
              </a:rPr>
              <a:t>Model Evaluation</a:t>
            </a:r>
            <a:endParaRPr/>
          </a:p>
          <a:p>
            <a:pPr marL="0" marR="0" lvl="0" indent="0" algn="l" rtl="0">
              <a:lnSpc>
                <a:spcPct val="120000"/>
              </a:lnSpc>
              <a:spcBef>
                <a:spcPts val="0"/>
              </a:spcBef>
              <a:spcAft>
                <a:spcPts val="0"/>
              </a:spcAft>
              <a:buNone/>
            </a:pPr>
            <a:endParaRPr sz="4350" b="1" i="0" u="none" strike="noStrike" cap="none">
              <a:solidFill>
                <a:srgbClr val="000000"/>
              </a:solidFill>
              <a:latin typeface="Calibri"/>
              <a:ea typeface="Calibri"/>
              <a:cs typeface="Calibri"/>
              <a:sym typeface="Calibri"/>
            </a:endParaRPr>
          </a:p>
          <a:p>
            <a:pPr marL="0" marR="0" lvl="0" indent="0" algn="l" rtl="0">
              <a:lnSpc>
                <a:spcPct val="120000"/>
              </a:lnSpc>
              <a:spcBef>
                <a:spcPts val="0"/>
              </a:spcBef>
              <a:spcAft>
                <a:spcPts val="0"/>
              </a:spcAft>
              <a:buNone/>
            </a:pPr>
            <a:r>
              <a:rPr lang="en-US" sz="4350" b="1" i="0" u="none" strike="noStrike" cap="none">
                <a:solidFill>
                  <a:srgbClr val="000000"/>
                </a:solidFill>
                <a:latin typeface="Calibri"/>
                <a:ea typeface="Calibri"/>
                <a:cs typeface="Calibri"/>
                <a:sym typeface="Calibri"/>
              </a:rPr>
              <a:t>Explaination:</a:t>
            </a:r>
            <a:endParaRPr/>
          </a:p>
        </p:txBody>
      </p:sp>
      <p:sp>
        <p:nvSpPr>
          <p:cNvPr id="209" name="Google Shape;209;p13"/>
          <p:cNvSpPr/>
          <p:nvPr/>
        </p:nvSpPr>
        <p:spPr>
          <a:xfrm>
            <a:off x="11573103" y="2754327"/>
            <a:ext cx="100012" cy="100012"/>
          </a:xfrm>
          <a:custGeom>
            <a:avLst/>
            <a:gdLst/>
            <a:ahLst/>
            <a:cxnLst/>
            <a:rect l="l" t="t" r="r" b="b"/>
            <a:pathLst>
              <a:path w="133350" h="133350" extrusionOk="0">
                <a:moveTo>
                  <a:pt x="0" y="0"/>
                </a:moveTo>
                <a:lnTo>
                  <a:pt x="133350" y="0"/>
                </a:lnTo>
                <a:lnTo>
                  <a:pt x="133350" y="133350"/>
                </a:lnTo>
                <a:lnTo>
                  <a:pt x="0" y="133350"/>
                </a:lnTo>
                <a:lnTo>
                  <a:pt x="0" y="0"/>
                </a:lnTo>
                <a:close/>
              </a:path>
            </a:pathLst>
          </a:custGeom>
          <a:blipFill rotWithShape="1">
            <a:blip r:embed="rId3">
              <a:alphaModFix/>
            </a:blip>
            <a:stretch>
              <a:fillRect/>
            </a:stretch>
          </a:blipFill>
          <a:ln>
            <a:noFill/>
          </a:ln>
        </p:spPr>
      </p:sp>
      <p:sp>
        <p:nvSpPr>
          <p:cNvPr id="210" name="Google Shape;210;p13"/>
          <p:cNvSpPr txBox="1"/>
          <p:nvPr/>
        </p:nvSpPr>
        <p:spPr>
          <a:xfrm>
            <a:off x="11816381" y="2524333"/>
            <a:ext cx="6065519" cy="3980627"/>
          </a:xfrm>
          <a:prstGeom prst="rect">
            <a:avLst/>
          </a:prstGeom>
          <a:noFill/>
          <a:ln>
            <a:noFill/>
          </a:ln>
        </p:spPr>
        <p:txBody>
          <a:bodyPr spcFirstLastPara="1" wrap="square" lIns="0" tIns="0" rIns="0" bIns="0" anchor="t" anchorCtr="0">
            <a:spAutoFit/>
          </a:bodyPr>
          <a:lstStyle/>
          <a:p>
            <a:pPr marL="0" marR="0" lvl="0" indent="0" algn="l" rtl="0">
              <a:lnSpc>
                <a:spcPct val="137518"/>
              </a:lnSpc>
              <a:spcBef>
                <a:spcPts val="0"/>
              </a:spcBef>
              <a:spcAft>
                <a:spcPts val="0"/>
              </a:spcAft>
              <a:buNone/>
            </a:pPr>
            <a:r>
              <a:rPr lang="en-US" sz="2700" b="0" i="0" u="none" strike="noStrike" cap="none">
                <a:solidFill>
                  <a:srgbClr val="000000"/>
                </a:solidFill>
                <a:latin typeface="Arial"/>
                <a:ea typeface="Arial"/>
                <a:cs typeface="Arial"/>
                <a:sym typeface="Arial"/>
              </a:rPr>
              <a:t>Calculated accuracy, confusion matrix, and	precision/recall/F1-score.</a:t>
            </a:r>
            <a:endParaRPr/>
          </a:p>
          <a:p>
            <a:pPr marL="0" marR="0" lvl="0" indent="0" algn="l" rtl="0">
              <a:lnSpc>
                <a:spcPct val="120000"/>
              </a:lnSpc>
              <a:spcBef>
                <a:spcPts val="0"/>
              </a:spcBef>
              <a:spcAft>
                <a:spcPts val="0"/>
              </a:spcAft>
              <a:buNone/>
            </a:pPr>
            <a:endParaRPr sz="2700" b="0" i="0" u="none" strike="noStrike" cap="none">
              <a:solidFill>
                <a:srgbClr val="000000"/>
              </a:solidFill>
              <a:latin typeface="Arial"/>
              <a:ea typeface="Arial"/>
              <a:cs typeface="Arial"/>
              <a:sym typeface="Arial"/>
            </a:endParaRPr>
          </a:p>
          <a:p>
            <a:pPr marL="0" marR="0" lvl="0" indent="0" algn="l" rtl="0">
              <a:lnSpc>
                <a:spcPct val="137518"/>
              </a:lnSpc>
              <a:spcBef>
                <a:spcPts val="0"/>
              </a:spcBef>
              <a:spcAft>
                <a:spcPts val="0"/>
              </a:spcAft>
              <a:buNone/>
            </a:pPr>
            <a:r>
              <a:rPr lang="en-US" sz="2700" b="0" i="0" u="none" strike="noStrike" cap="none">
                <a:solidFill>
                  <a:srgbClr val="000000"/>
                </a:solidFill>
                <a:latin typeface="Arial"/>
                <a:ea typeface="Arial"/>
                <a:cs typeface="Arial"/>
                <a:sym typeface="Arial"/>
              </a:rPr>
              <a:t>Plotted the confusion matrix to visualize predictions.</a:t>
            </a:r>
            <a:endParaRPr/>
          </a:p>
          <a:p>
            <a:pPr marL="0" marR="0" lvl="0" indent="0" algn="l" rtl="0">
              <a:lnSpc>
                <a:spcPct val="120000"/>
              </a:lnSpc>
              <a:spcBef>
                <a:spcPts val="0"/>
              </a:spcBef>
              <a:spcAft>
                <a:spcPts val="0"/>
              </a:spcAft>
              <a:buNone/>
            </a:pPr>
            <a:endParaRPr sz="2700" b="0" i="0" u="none" strike="noStrike" cap="none">
              <a:solidFill>
                <a:srgbClr val="000000"/>
              </a:solidFill>
              <a:latin typeface="Arial"/>
              <a:ea typeface="Arial"/>
              <a:cs typeface="Arial"/>
              <a:sym typeface="Arial"/>
            </a:endParaRPr>
          </a:p>
          <a:p>
            <a:pPr marL="0" marR="0" lvl="0" indent="0" algn="l" rtl="0">
              <a:lnSpc>
                <a:spcPct val="137518"/>
              </a:lnSpc>
              <a:spcBef>
                <a:spcPts val="0"/>
              </a:spcBef>
              <a:spcAft>
                <a:spcPts val="0"/>
              </a:spcAft>
              <a:buNone/>
            </a:pPr>
            <a:r>
              <a:rPr lang="en-US" sz="2700" b="0" i="0" u="none" strike="noStrike" cap="none">
                <a:solidFill>
                  <a:srgbClr val="000000"/>
                </a:solidFill>
                <a:latin typeface="Arial"/>
                <a:ea typeface="Arial"/>
                <a:cs typeface="Arial"/>
                <a:sym typeface="Arial"/>
              </a:rPr>
              <a:t>Achieved accuracy: ~90.78% for Adaboost </a:t>
            </a:r>
            <a:endParaRPr/>
          </a:p>
        </p:txBody>
      </p:sp>
      <p:sp>
        <p:nvSpPr>
          <p:cNvPr id="211" name="Google Shape;211;p13"/>
          <p:cNvSpPr/>
          <p:nvPr/>
        </p:nvSpPr>
        <p:spPr>
          <a:xfrm>
            <a:off x="11573103" y="4168790"/>
            <a:ext cx="100012" cy="100012"/>
          </a:xfrm>
          <a:custGeom>
            <a:avLst/>
            <a:gdLst/>
            <a:ahLst/>
            <a:cxnLst/>
            <a:rect l="l" t="t" r="r" b="b"/>
            <a:pathLst>
              <a:path w="133350" h="133350" extrusionOk="0">
                <a:moveTo>
                  <a:pt x="0" y="0"/>
                </a:moveTo>
                <a:lnTo>
                  <a:pt x="133350" y="0"/>
                </a:lnTo>
                <a:lnTo>
                  <a:pt x="133350" y="133350"/>
                </a:lnTo>
                <a:lnTo>
                  <a:pt x="0" y="133350"/>
                </a:lnTo>
                <a:lnTo>
                  <a:pt x="0" y="0"/>
                </a:lnTo>
                <a:close/>
              </a:path>
            </a:pathLst>
          </a:custGeom>
          <a:blipFill rotWithShape="1">
            <a:blip r:embed="rId4">
              <a:alphaModFix/>
            </a:blip>
            <a:stretch>
              <a:fillRect/>
            </a:stretch>
          </a:blipFill>
          <a:ln>
            <a:noFill/>
          </a:ln>
        </p:spPr>
      </p:sp>
      <p:sp>
        <p:nvSpPr>
          <p:cNvPr id="212" name="Google Shape;212;p13"/>
          <p:cNvSpPr/>
          <p:nvPr/>
        </p:nvSpPr>
        <p:spPr>
          <a:xfrm>
            <a:off x="11573103" y="5683566"/>
            <a:ext cx="100012" cy="100012"/>
          </a:xfrm>
          <a:custGeom>
            <a:avLst/>
            <a:gdLst/>
            <a:ahLst/>
            <a:cxnLst/>
            <a:rect l="l" t="t" r="r" b="b"/>
            <a:pathLst>
              <a:path w="133350" h="133350" extrusionOk="0">
                <a:moveTo>
                  <a:pt x="0" y="0"/>
                </a:moveTo>
                <a:lnTo>
                  <a:pt x="133350" y="0"/>
                </a:lnTo>
                <a:lnTo>
                  <a:pt x="133350" y="133350"/>
                </a:lnTo>
                <a:lnTo>
                  <a:pt x="0" y="133350"/>
                </a:lnTo>
                <a:lnTo>
                  <a:pt x="0" y="0"/>
                </a:lnTo>
                <a:close/>
              </a:path>
            </a:pathLst>
          </a:custGeom>
          <a:blipFill rotWithShape="1">
            <a:blip r:embed="rId3">
              <a:alphaModFix/>
            </a:blip>
            <a:stretch>
              <a:fillRect/>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4"/>
          <p:cNvSpPr txBox="1"/>
          <p:nvPr/>
        </p:nvSpPr>
        <p:spPr>
          <a:xfrm>
            <a:off x="779054" y="509842"/>
            <a:ext cx="16268700" cy="209806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4200" b="1" i="0" u="none" strike="noStrike" cap="none">
                <a:solidFill>
                  <a:srgbClr val="000000"/>
                </a:solidFill>
                <a:latin typeface="Calibri"/>
                <a:ea typeface="Calibri"/>
                <a:cs typeface="Calibri"/>
                <a:sym typeface="Calibri"/>
              </a:rPr>
              <a:t>Results and Analysis:</a:t>
            </a:r>
            <a:endParaRPr/>
          </a:p>
        </p:txBody>
      </p:sp>
      <p:sp>
        <p:nvSpPr>
          <p:cNvPr id="218" name="Google Shape;218;p14"/>
          <p:cNvSpPr/>
          <p:nvPr/>
        </p:nvSpPr>
        <p:spPr>
          <a:xfrm>
            <a:off x="2094089" y="1965100"/>
            <a:ext cx="14705803" cy="6356800"/>
          </a:xfrm>
          <a:custGeom>
            <a:avLst/>
            <a:gdLst/>
            <a:ahLst/>
            <a:cxnLst/>
            <a:rect l="l" t="t" r="r" b="b"/>
            <a:pathLst>
              <a:path w="18421350" h="7962900" extrusionOk="0">
                <a:moveTo>
                  <a:pt x="0" y="0"/>
                </a:moveTo>
                <a:lnTo>
                  <a:pt x="18421350" y="0"/>
                </a:lnTo>
                <a:lnTo>
                  <a:pt x="18421350" y="7962900"/>
                </a:lnTo>
                <a:lnTo>
                  <a:pt x="0" y="7962900"/>
                </a:lnTo>
                <a:lnTo>
                  <a:pt x="0" y="0"/>
                </a:lnTo>
                <a:close/>
              </a:path>
            </a:pathLst>
          </a:custGeom>
          <a:blipFill rotWithShape="1">
            <a:blip r:embed="rId3">
              <a:alphaModFix/>
            </a:blip>
            <a:stretch>
              <a:fillRect/>
            </a:stretch>
          </a:blipFill>
          <a:ln>
            <a:no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5"/>
          <p:cNvSpPr/>
          <p:nvPr/>
        </p:nvSpPr>
        <p:spPr>
          <a:xfrm>
            <a:off x="10060396" y="285750"/>
            <a:ext cx="7522082" cy="9715500"/>
          </a:xfrm>
          <a:custGeom>
            <a:avLst/>
            <a:gdLst/>
            <a:ahLst/>
            <a:cxnLst/>
            <a:rect l="l" t="t" r="r" b="b"/>
            <a:pathLst>
              <a:path w="10029444" h="12954000" extrusionOk="0">
                <a:moveTo>
                  <a:pt x="0" y="0"/>
                </a:moveTo>
                <a:lnTo>
                  <a:pt x="10029444" y="0"/>
                </a:lnTo>
                <a:lnTo>
                  <a:pt x="10029444" y="12954000"/>
                </a:lnTo>
                <a:lnTo>
                  <a:pt x="0" y="12954000"/>
                </a:lnTo>
                <a:lnTo>
                  <a:pt x="0" y="0"/>
                </a:lnTo>
                <a:close/>
              </a:path>
            </a:pathLst>
          </a:custGeom>
          <a:blipFill rotWithShape="1">
            <a:blip r:embed="rId3">
              <a:alphaModFix/>
            </a:blip>
            <a:stretch>
              <a:fillRect l="-1518" b="-18649"/>
            </a:stretch>
          </a:blipFill>
          <a:ln>
            <a:noFill/>
          </a:ln>
        </p:spPr>
      </p:sp>
      <p:sp>
        <p:nvSpPr>
          <p:cNvPr id="224" name="Google Shape;224;p15"/>
          <p:cNvSpPr txBox="1"/>
          <p:nvPr/>
        </p:nvSpPr>
        <p:spPr>
          <a:xfrm>
            <a:off x="478818" y="2509837"/>
            <a:ext cx="9082138" cy="5200650"/>
          </a:xfrm>
          <a:prstGeom prst="rect">
            <a:avLst/>
          </a:prstGeom>
          <a:noFill/>
          <a:ln>
            <a:noFill/>
          </a:ln>
        </p:spPr>
        <p:txBody>
          <a:bodyPr spcFirstLastPara="1" wrap="square" lIns="0" tIns="0" rIns="0" bIns="0" anchor="t" anchorCtr="0">
            <a:spAutoFit/>
          </a:bodyPr>
          <a:lstStyle/>
          <a:p>
            <a:pPr marL="669296" marR="0" lvl="1" indent="-334648" algn="l" rtl="0">
              <a:lnSpc>
                <a:spcPct val="120000"/>
              </a:lnSpc>
              <a:spcBef>
                <a:spcPts val="0"/>
              </a:spcBef>
              <a:spcAft>
                <a:spcPts val="0"/>
              </a:spcAft>
              <a:buClr>
                <a:srgbClr val="000000"/>
              </a:buClr>
              <a:buSzPts val="3100"/>
              <a:buFont typeface="Arial"/>
              <a:buChar char="•"/>
            </a:pPr>
            <a:r>
              <a:rPr lang="en-US" sz="3100" b="0" i="0" u="none" strike="noStrike" cap="none">
                <a:solidFill>
                  <a:srgbClr val="000000"/>
                </a:solidFill>
                <a:latin typeface="Calibri"/>
                <a:ea typeface="Calibri"/>
                <a:cs typeface="Calibri"/>
                <a:sym typeface="Calibri"/>
              </a:rPr>
              <a:t>The models demonstrate strong predictive performance, with accuracies ranging from 82% to 90%.</a:t>
            </a:r>
            <a:endParaRPr/>
          </a:p>
          <a:p>
            <a:pPr marL="0" marR="0" lvl="0" indent="0" algn="l" rtl="0">
              <a:lnSpc>
                <a:spcPct val="120000"/>
              </a:lnSpc>
              <a:spcBef>
                <a:spcPts val="0"/>
              </a:spcBef>
              <a:spcAft>
                <a:spcPts val="0"/>
              </a:spcAft>
              <a:buNone/>
            </a:pPr>
            <a:endParaRPr sz="3100" b="0" i="0" u="none" strike="noStrike" cap="none">
              <a:solidFill>
                <a:srgbClr val="000000"/>
              </a:solidFill>
              <a:latin typeface="Calibri"/>
              <a:ea typeface="Calibri"/>
              <a:cs typeface="Calibri"/>
              <a:sym typeface="Calibri"/>
            </a:endParaRPr>
          </a:p>
          <a:p>
            <a:pPr marL="669296" marR="0" lvl="1" indent="-334648" algn="l" rtl="0">
              <a:lnSpc>
                <a:spcPct val="120000"/>
              </a:lnSpc>
              <a:spcBef>
                <a:spcPts val="0"/>
              </a:spcBef>
              <a:spcAft>
                <a:spcPts val="0"/>
              </a:spcAft>
              <a:buClr>
                <a:srgbClr val="000000"/>
              </a:buClr>
              <a:buSzPts val="3100"/>
              <a:buFont typeface="Arial"/>
              <a:buChar char="•"/>
            </a:pPr>
            <a:r>
              <a:rPr lang="en-US" sz="3100" b="0" i="0" u="none" strike="noStrike" cap="none">
                <a:solidFill>
                  <a:srgbClr val="000000"/>
                </a:solidFill>
                <a:latin typeface="Calibri"/>
                <a:ea typeface="Calibri"/>
                <a:cs typeface="Calibri"/>
                <a:sym typeface="Calibri"/>
              </a:rPr>
              <a:t>KNN and Logistic Regression show balanced precision and recall, while Decision Tree offers slightly lower stability.</a:t>
            </a:r>
            <a:endParaRPr/>
          </a:p>
          <a:p>
            <a:pPr marL="0" marR="0" lvl="0" indent="0" algn="l" rtl="0">
              <a:lnSpc>
                <a:spcPct val="120000"/>
              </a:lnSpc>
              <a:spcBef>
                <a:spcPts val="0"/>
              </a:spcBef>
              <a:spcAft>
                <a:spcPts val="0"/>
              </a:spcAft>
              <a:buNone/>
            </a:pPr>
            <a:endParaRPr sz="3100" b="0" i="0" u="none" strike="noStrike" cap="none">
              <a:solidFill>
                <a:srgbClr val="000000"/>
              </a:solidFill>
              <a:latin typeface="Calibri"/>
              <a:ea typeface="Calibri"/>
              <a:cs typeface="Calibri"/>
              <a:sym typeface="Calibri"/>
            </a:endParaRPr>
          </a:p>
          <a:p>
            <a:pPr marL="669296" marR="0" lvl="1" indent="-334648" algn="l" rtl="0">
              <a:lnSpc>
                <a:spcPct val="120000"/>
              </a:lnSpc>
              <a:spcBef>
                <a:spcPts val="0"/>
              </a:spcBef>
              <a:spcAft>
                <a:spcPts val="0"/>
              </a:spcAft>
              <a:buClr>
                <a:srgbClr val="000000"/>
              </a:buClr>
              <a:buSzPts val="3100"/>
              <a:buFont typeface="Arial"/>
              <a:buChar char="•"/>
            </a:pPr>
            <a:r>
              <a:rPr lang="en-US" sz="3100" b="0" i="0" u="none" strike="noStrike" cap="none">
                <a:solidFill>
                  <a:srgbClr val="000000"/>
                </a:solidFill>
                <a:latin typeface="Calibri"/>
                <a:ea typeface="Calibri"/>
                <a:cs typeface="Calibri"/>
                <a:sym typeface="Calibri"/>
              </a:rPr>
              <a:t>Overall, the algorithms provide reliable classification for coronary artery disease prediction.</a:t>
            </a:r>
            <a:endParaRPr/>
          </a:p>
          <a:p>
            <a:pPr marL="0" marR="0" lvl="0" indent="0" algn="l" rtl="0">
              <a:lnSpc>
                <a:spcPct val="120000"/>
              </a:lnSpc>
              <a:spcBef>
                <a:spcPts val="0"/>
              </a:spcBef>
              <a:spcAft>
                <a:spcPts val="0"/>
              </a:spcAft>
              <a:buNone/>
            </a:pPr>
            <a:endParaRPr sz="3100" b="0" i="0" u="none" strike="noStrike" cap="none">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6"/>
          <p:cNvSpPr/>
          <p:nvPr/>
        </p:nvSpPr>
        <p:spPr>
          <a:xfrm>
            <a:off x="10629900" y="228600"/>
            <a:ext cx="7094124" cy="9829800"/>
          </a:xfrm>
          <a:custGeom>
            <a:avLst/>
            <a:gdLst/>
            <a:ahLst/>
            <a:cxnLst/>
            <a:rect l="l" t="t" r="r" b="b"/>
            <a:pathLst>
              <a:path w="9458833" h="13106400" extrusionOk="0">
                <a:moveTo>
                  <a:pt x="0" y="0"/>
                </a:moveTo>
                <a:lnTo>
                  <a:pt x="9458833" y="0"/>
                </a:lnTo>
                <a:lnTo>
                  <a:pt x="9458833" y="13106400"/>
                </a:lnTo>
                <a:lnTo>
                  <a:pt x="0" y="13106400"/>
                </a:lnTo>
                <a:lnTo>
                  <a:pt x="0" y="0"/>
                </a:lnTo>
                <a:close/>
              </a:path>
            </a:pathLst>
          </a:custGeom>
          <a:blipFill rotWithShape="1">
            <a:blip r:embed="rId3">
              <a:alphaModFix/>
            </a:blip>
            <a:stretch>
              <a:fillRect l="-108" b="-8134"/>
            </a:stretch>
          </a:blipFill>
          <a:ln>
            <a:noFill/>
          </a:ln>
        </p:spPr>
      </p:sp>
      <p:sp>
        <p:nvSpPr>
          <p:cNvPr id="230" name="Google Shape;230;p16"/>
          <p:cNvSpPr/>
          <p:nvPr/>
        </p:nvSpPr>
        <p:spPr>
          <a:xfrm>
            <a:off x="1267167" y="9041562"/>
            <a:ext cx="8243888" cy="685800"/>
          </a:xfrm>
          <a:custGeom>
            <a:avLst/>
            <a:gdLst/>
            <a:ahLst/>
            <a:cxnLst/>
            <a:rect l="l" t="t" r="r" b="b"/>
            <a:pathLst>
              <a:path w="10991850" h="914400" extrusionOk="0">
                <a:moveTo>
                  <a:pt x="0" y="0"/>
                </a:moveTo>
                <a:lnTo>
                  <a:pt x="10991850" y="0"/>
                </a:lnTo>
                <a:lnTo>
                  <a:pt x="10991850" y="914400"/>
                </a:lnTo>
                <a:lnTo>
                  <a:pt x="0" y="914400"/>
                </a:lnTo>
                <a:lnTo>
                  <a:pt x="0" y="0"/>
                </a:lnTo>
                <a:close/>
              </a:path>
            </a:pathLst>
          </a:custGeom>
          <a:blipFill rotWithShape="1">
            <a:blip r:embed="rId4">
              <a:alphaModFix/>
            </a:blip>
            <a:stretch>
              <a:fillRect l="-172"/>
            </a:stretch>
          </a:blipFill>
          <a:ln>
            <a:noFill/>
          </a:ln>
        </p:spPr>
      </p:sp>
      <p:sp>
        <p:nvSpPr>
          <p:cNvPr id="231" name="Google Shape;231;p16"/>
          <p:cNvSpPr txBox="1"/>
          <p:nvPr/>
        </p:nvSpPr>
        <p:spPr>
          <a:xfrm>
            <a:off x="648192" y="1221840"/>
            <a:ext cx="9233503" cy="3857625"/>
          </a:xfrm>
          <a:prstGeom prst="rect">
            <a:avLst/>
          </a:prstGeom>
          <a:noFill/>
          <a:ln>
            <a:noFill/>
          </a:ln>
        </p:spPr>
        <p:txBody>
          <a:bodyPr spcFirstLastPara="1" wrap="square" lIns="0" tIns="0" rIns="0" bIns="0" anchor="t" anchorCtr="0">
            <a:spAutoFit/>
          </a:bodyPr>
          <a:lstStyle/>
          <a:p>
            <a:pPr marL="615056" marR="0" lvl="1" indent="-307528" algn="l" rtl="0">
              <a:lnSpc>
                <a:spcPct val="120014"/>
              </a:lnSpc>
              <a:spcBef>
                <a:spcPts val="0"/>
              </a:spcBef>
              <a:spcAft>
                <a:spcPts val="0"/>
              </a:spcAft>
              <a:buClr>
                <a:srgbClr val="000000"/>
              </a:buClr>
              <a:buSzPts val="2848"/>
              <a:buFont typeface="Arial"/>
              <a:buChar char="•"/>
            </a:pPr>
            <a:r>
              <a:rPr lang="en-US" sz="2848" b="0" i="0" u="none" strike="noStrike" cap="none">
                <a:solidFill>
                  <a:srgbClr val="000000"/>
                </a:solidFill>
                <a:latin typeface="Arial"/>
                <a:ea typeface="Arial"/>
                <a:cs typeface="Arial"/>
                <a:sym typeface="Arial"/>
              </a:rPr>
              <a:t>Among all algorithms, Random Forest, SVM, and AdaBoost achieve the highest accuracies, all above 89%.</a:t>
            </a:r>
            <a:endParaRPr/>
          </a:p>
          <a:p>
            <a:pPr marL="0" marR="0" lvl="0" indent="0" algn="l" rtl="0">
              <a:lnSpc>
                <a:spcPct val="120014"/>
              </a:lnSpc>
              <a:spcBef>
                <a:spcPts val="0"/>
              </a:spcBef>
              <a:spcAft>
                <a:spcPts val="0"/>
              </a:spcAft>
              <a:buNone/>
            </a:pPr>
            <a:endParaRPr sz="2848" b="0" i="0" u="none" strike="noStrike" cap="none">
              <a:solidFill>
                <a:srgbClr val="000000"/>
              </a:solidFill>
              <a:latin typeface="Arial"/>
              <a:ea typeface="Arial"/>
              <a:cs typeface="Arial"/>
              <a:sym typeface="Arial"/>
            </a:endParaRPr>
          </a:p>
          <a:p>
            <a:pPr marL="615056" marR="0" lvl="1" indent="-307528" algn="l" rtl="0">
              <a:lnSpc>
                <a:spcPct val="120014"/>
              </a:lnSpc>
              <a:spcBef>
                <a:spcPts val="0"/>
              </a:spcBef>
              <a:spcAft>
                <a:spcPts val="0"/>
              </a:spcAft>
              <a:buClr>
                <a:srgbClr val="000000"/>
              </a:buClr>
              <a:buSzPts val="2848"/>
              <a:buFont typeface="Arial"/>
              <a:buChar char="•"/>
            </a:pPr>
            <a:r>
              <a:rPr lang="en-US" sz="2848" b="0" i="0" u="none" strike="noStrike" cap="none">
                <a:solidFill>
                  <a:srgbClr val="000000"/>
                </a:solidFill>
                <a:latin typeface="Arial"/>
                <a:ea typeface="Arial"/>
                <a:cs typeface="Arial"/>
                <a:sym typeface="Arial"/>
              </a:rPr>
              <a:t> These models show strong recall and precision, making them well-suited for medical risk prediction.</a:t>
            </a:r>
            <a:endParaRPr/>
          </a:p>
          <a:p>
            <a:pPr marL="0" marR="0" lvl="0" indent="0" algn="l" rtl="0">
              <a:lnSpc>
                <a:spcPct val="120014"/>
              </a:lnSpc>
              <a:spcBef>
                <a:spcPts val="0"/>
              </a:spcBef>
              <a:spcAft>
                <a:spcPts val="0"/>
              </a:spcAft>
              <a:buNone/>
            </a:pPr>
            <a:endParaRPr sz="2848" b="0" i="0" u="none" strike="noStrike" cap="none">
              <a:solidFill>
                <a:srgbClr val="000000"/>
              </a:solidFill>
              <a:latin typeface="Arial"/>
              <a:ea typeface="Arial"/>
              <a:cs typeface="Arial"/>
              <a:sym typeface="Arial"/>
            </a:endParaRPr>
          </a:p>
          <a:p>
            <a:pPr marL="615056" marR="0" lvl="1" indent="-307528" algn="l" rtl="0">
              <a:lnSpc>
                <a:spcPct val="120014"/>
              </a:lnSpc>
              <a:spcBef>
                <a:spcPts val="0"/>
              </a:spcBef>
              <a:spcAft>
                <a:spcPts val="0"/>
              </a:spcAft>
              <a:buClr>
                <a:srgbClr val="000000"/>
              </a:buClr>
              <a:buSzPts val="2848"/>
              <a:buFont typeface="Arial"/>
              <a:buChar char="•"/>
            </a:pPr>
            <a:r>
              <a:rPr lang="en-US" sz="2848" b="0" i="0" u="none" strike="noStrike" cap="none">
                <a:solidFill>
                  <a:srgbClr val="000000"/>
                </a:solidFill>
                <a:latin typeface="Arial"/>
                <a:ea typeface="Arial"/>
                <a:cs typeface="Arial"/>
                <a:sym typeface="Arial"/>
              </a:rPr>
              <a:t> Therefore, they are the most effective choices for identifying coronary artery disease in patients.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7"/>
          <p:cNvSpPr/>
          <p:nvPr/>
        </p:nvSpPr>
        <p:spPr>
          <a:xfrm>
            <a:off x="1131936" y="1158974"/>
            <a:ext cx="2314576" cy="2314576"/>
          </a:xfrm>
          <a:custGeom>
            <a:avLst/>
            <a:gdLst/>
            <a:ahLst/>
            <a:cxnLst/>
            <a:rect l="l" t="t" r="r" b="b"/>
            <a:pathLst>
              <a:path w="3086100" h="3086100" extrusionOk="0">
                <a:moveTo>
                  <a:pt x="0" y="0"/>
                </a:moveTo>
                <a:lnTo>
                  <a:pt x="3086100" y="0"/>
                </a:lnTo>
                <a:lnTo>
                  <a:pt x="3086100" y="3086100"/>
                </a:lnTo>
                <a:lnTo>
                  <a:pt x="0" y="3086100"/>
                </a:lnTo>
                <a:lnTo>
                  <a:pt x="0" y="0"/>
                </a:lnTo>
                <a:close/>
              </a:path>
            </a:pathLst>
          </a:custGeom>
          <a:blipFill rotWithShape="1">
            <a:blip r:embed="rId3">
              <a:alphaModFix/>
            </a:blip>
            <a:stretch>
              <a:fillRect/>
            </a:stretch>
          </a:blipFill>
          <a:ln>
            <a:noFill/>
          </a:ln>
        </p:spPr>
      </p:sp>
      <p:sp>
        <p:nvSpPr>
          <p:cNvPr id="237" name="Google Shape;237;p17"/>
          <p:cNvSpPr/>
          <p:nvPr/>
        </p:nvSpPr>
        <p:spPr>
          <a:xfrm>
            <a:off x="5390580" y="1158974"/>
            <a:ext cx="2314574" cy="2314576"/>
          </a:xfrm>
          <a:custGeom>
            <a:avLst/>
            <a:gdLst/>
            <a:ahLst/>
            <a:cxnLst/>
            <a:rect l="l" t="t" r="r" b="b"/>
            <a:pathLst>
              <a:path w="3086100" h="3086100" extrusionOk="0">
                <a:moveTo>
                  <a:pt x="0" y="0"/>
                </a:moveTo>
                <a:lnTo>
                  <a:pt x="3086100" y="0"/>
                </a:lnTo>
                <a:lnTo>
                  <a:pt x="3086100" y="3086100"/>
                </a:lnTo>
                <a:lnTo>
                  <a:pt x="0" y="3086100"/>
                </a:lnTo>
                <a:lnTo>
                  <a:pt x="0" y="0"/>
                </a:lnTo>
                <a:close/>
              </a:path>
            </a:pathLst>
          </a:custGeom>
          <a:blipFill rotWithShape="1">
            <a:blip r:embed="rId4">
              <a:alphaModFix/>
            </a:blip>
            <a:stretch>
              <a:fillRect/>
            </a:stretch>
          </a:blipFill>
          <a:ln>
            <a:noFill/>
          </a:ln>
        </p:spPr>
      </p:sp>
      <p:sp>
        <p:nvSpPr>
          <p:cNvPr id="238" name="Google Shape;238;p17"/>
          <p:cNvSpPr/>
          <p:nvPr/>
        </p:nvSpPr>
        <p:spPr>
          <a:xfrm>
            <a:off x="10264879" y="1158974"/>
            <a:ext cx="2314574" cy="2314576"/>
          </a:xfrm>
          <a:custGeom>
            <a:avLst/>
            <a:gdLst/>
            <a:ahLst/>
            <a:cxnLst/>
            <a:rect l="l" t="t" r="r" b="b"/>
            <a:pathLst>
              <a:path w="3086100" h="3086100" extrusionOk="0">
                <a:moveTo>
                  <a:pt x="0" y="0"/>
                </a:moveTo>
                <a:lnTo>
                  <a:pt x="3086100" y="0"/>
                </a:lnTo>
                <a:lnTo>
                  <a:pt x="3086100" y="3086100"/>
                </a:lnTo>
                <a:lnTo>
                  <a:pt x="0" y="3086100"/>
                </a:lnTo>
                <a:lnTo>
                  <a:pt x="0" y="0"/>
                </a:lnTo>
                <a:close/>
              </a:path>
            </a:pathLst>
          </a:custGeom>
          <a:blipFill rotWithShape="1">
            <a:blip r:embed="rId5">
              <a:alphaModFix/>
            </a:blip>
            <a:stretch>
              <a:fillRect/>
            </a:stretch>
          </a:blipFill>
          <a:ln>
            <a:noFill/>
          </a:ln>
        </p:spPr>
      </p:sp>
      <p:sp>
        <p:nvSpPr>
          <p:cNvPr id="239" name="Google Shape;239;p17"/>
          <p:cNvSpPr/>
          <p:nvPr/>
        </p:nvSpPr>
        <p:spPr>
          <a:xfrm>
            <a:off x="0" y="8572498"/>
            <a:ext cx="18287999" cy="1714499"/>
          </a:xfrm>
          <a:custGeom>
            <a:avLst/>
            <a:gdLst/>
            <a:ahLst/>
            <a:cxnLst/>
            <a:rect l="l" t="t" r="r" b="b"/>
            <a:pathLst>
              <a:path w="24384000" h="2286000" extrusionOk="0">
                <a:moveTo>
                  <a:pt x="0" y="0"/>
                </a:moveTo>
                <a:lnTo>
                  <a:pt x="24384000" y="0"/>
                </a:lnTo>
                <a:lnTo>
                  <a:pt x="24384000" y="2286000"/>
                </a:lnTo>
                <a:lnTo>
                  <a:pt x="0" y="2286000"/>
                </a:lnTo>
                <a:lnTo>
                  <a:pt x="0" y="0"/>
                </a:lnTo>
                <a:close/>
              </a:path>
            </a:pathLst>
          </a:custGeom>
          <a:blipFill rotWithShape="1">
            <a:blip r:embed="rId6">
              <a:alphaModFix/>
            </a:blip>
            <a:stretch>
              <a:fillRect/>
            </a:stretch>
          </a:blipFill>
          <a:ln>
            <a:noFill/>
          </a:ln>
        </p:spPr>
      </p:sp>
      <p:sp>
        <p:nvSpPr>
          <p:cNvPr id="240" name="Google Shape;240;p17"/>
          <p:cNvSpPr/>
          <p:nvPr/>
        </p:nvSpPr>
        <p:spPr>
          <a:xfrm>
            <a:off x="14522552" y="1158974"/>
            <a:ext cx="2314574" cy="2314576"/>
          </a:xfrm>
          <a:custGeom>
            <a:avLst/>
            <a:gdLst/>
            <a:ahLst/>
            <a:cxnLst/>
            <a:rect l="l" t="t" r="r" b="b"/>
            <a:pathLst>
              <a:path w="3086100" h="3086100" extrusionOk="0">
                <a:moveTo>
                  <a:pt x="0" y="0"/>
                </a:moveTo>
                <a:lnTo>
                  <a:pt x="3086100" y="0"/>
                </a:lnTo>
                <a:lnTo>
                  <a:pt x="3086100" y="3086100"/>
                </a:lnTo>
                <a:lnTo>
                  <a:pt x="0" y="3086100"/>
                </a:lnTo>
                <a:lnTo>
                  <a:pt x="0" y="0"/>
                </a:lnTo>
                <a:close/>
              </a:path>
            </a:pathLst>
          </a:custGeom>
          <a:blipFill rotWithShape="1">
            <a:blip r:embed="rId7">
              <a:alphaModFix/>
            </a:blip>
            <a:stretch>
              <a:fillRect/>
            </a:stretch>
          </a:blipFill>
          <a:ln>
            <a:noFill/>
          </a:ln>
        </p:spPr>
      </p:sp>
      <p:sp>
        <p:nvSpPr>
          <p:cNvPr id="241" name="Google Shape;241;p17"/>
          <p:cNvSpPr txBox="1"/>
          <p:nvPr/>
        </p:nvSpPr>
        <p:spPr>
          <a:xfrm>
            <a:off x="6984006" y="57150"/>
            <a:ext cx="16268700" cy="971550"/>
          </a:xfrm>
          <a:prstGeom prst="rect">
            <a:avLst/>
          </a:prstGeom>
          <a:noFill/>
          <a:ln>
            <a:noFill/>
          </a:ln>
        </p:spPr>
        <p:txBody>
          <a:bodyPr spcFirstLastPara="1" wrap="square" lIns="0" tIns="0" rIns="0" bIns="0" anchor="t" anchorCtr="0">
            <a:spAutoFit/>
          </a:bodyPr>
          <a:lstStyle/>
          <a:p>
            <a:pPr marL="0" marR="0" lvl="0" indent="0" algn="just" rtl="0">
              <a:lnSpc>
                <a:spcPct val="120003"/>
              </a:lnSpc>
              <a:spcBef>
                <a:spcPts val="0"/>
              </a:spcBef>
              <a:spcAft>
                <a:spcPts val="0"/>
              </a:spcAft>
              <a:buNone/>
            </a:pPr>
            <a:r>
              <a:rPr lang="en-US" sz="6399" b="1" i="0" u="none" strike="noStrike" cap="none">
                <a:solidFill>
                  <a:srgbClr val="333333"/>
                </a:solidFill>
                <a:latin typeface="Arial"/>
                <a:ea typeface="Arial"/>
                <a:cs typeface="Arial"/>
                <a:sym typeface="Arial"/>
              </a:rPr>
              <a:t>Conclusion</a:t>
            </a:r>
            <a:endParaRPr/>
          </a:p>
        </p:txBody>
      </p:sp>
      <p:sp>
        <p:nvSpPr>
          <p:cNvPr id="242" name="Google Shape;242;p17"/>
          <p:cNvSpPr txBox="1"/>
          <p:nvPr/>
        </p:nvSpPr>
        <p:spPr>
          <a:xfrm>
            <a:off x="795045" y="3732515"/>
            <a:ext cx="3839206" cy="742950"/>
          </a:xfrm>
          <a:prstGeom prst="rect">
            <a:avLst/>
          </a:prstGeom>
          <a:noFill/>
          <a:ln>
            <a:noFill/>
          </a:ln>
        </p:spPr>
        <p:txBody>
          <a:bodyPr spcFirstLastPara="1" wrap="square" lIns="0" tIns="0" rIns="0" bIns="0" anchor="t" anchorCtr="0">
            <a:spAutoFit/>
          </a:bodyPr>
          <a:lstStyle/>
          <a:p>
            <a:pPr marL="0" marR="0" lvl="0" indent="0" algn="just" rtl="0">
              <a:lnSpc>
                <a:spcPct val="120008"/>
              </a:lnSpc>
              <a:spcBef>
                <a:spcPts val="0"/>
              </a:spcBef>
              <a:spcAft>
                <a:spcPts val="0"/>
              </a:spcAft>
              <a:buNone/>
            </a:pPr>
            <a:r>
              <a:rPr lang="en-US" sz="2499" b="1" i="0" u="none" strike="noStrike" cap="none">
                <a:solidFill>
                  <a:srgbClr val="000000"/>
                </a:solidFill>
                <a:latin typeface="Arial"/>
                <a:ea typeface="Arial"/>
                <a:cs typeface="Arial"/>
                <a:sym typeface="Arial"/>
              </a:rPr>
              <a:t>Accurate, data -</a:t>
            </a:r>
            <a:endParaRPr/>
          </a:p>
          <a:p>
            <a:pPr marL="0" marR="0" lvl="0" indent="0" algn="l" rtl="0">
              <a:lnSpc>
                <a:spcPct val="120008"/>
              </a:lnSpc>
              <a:spcBef>
                <a:spcPts val="0"/>
              </a:spcBef>
              <a:spcAft>
                <a:spcPts val="0"/>
              </a:spcAft>
              <a:buNone/>
            </a:pPr>
            <a:r>
              <a:rPr lang="en-US" sz="2499" b="1" i="0" u="none" strike="noStrike" cap="none">
                <a:solidFill>
                  <a:srgbClr val="000000"/>
                </a:solidFill>
                <a:latin typeface="Arial"/>
                <a:ea typeface="Arial"/>
                <a:cs typeface="Arial"/>
                <a:sym typeface="Arial"/>
              </a:rPr>
              <a:t>driven disease prediction</a:t>
            </a:r>
            <a:endParaRPr/>
          </a:p>
        </p:txBody>
      </p:sp>
      <p:sp>
        <p:nvSpPr>
          <p:cNvPr id="243" name="Google Shape;243;p17"/>
          <p:cNvSpPr txBox="1"/>
          <p:nvPr/>
        </p:nvSpPr>
        <p:spPr>
          <a:xfrm>
            <a:off x="5226167" y="3727224"/>
            <a:ext cx="3246649" cy="748242"/>
          </a:xfrm>
          <a:prstGeom prst="rect">
            <a:avLst/>
          </a:prstGeom>
          <a:noFill/>
          <a:ln>
            <a:noFill/>
          </a:ln>
        </p:spPr>
        <p:txBody>
          <a:bodyPr spcFirstLastPara="1" wrap="square" lIns="0" tIns="0" rIns="0" bIns="0" anchor="t" anchorCtr="0">
            <a:spAutoFit/>
          </a:bodyPr>
          <a:lstStyle/>
          <a:p>
            <a:pPr marL="0" marR="0" lvl="0" indent="0" algn="just" rtl="0">
              <a:lnSpc>
                <a:spcPct val="118367"/>
              </a:lnSpc>
              <a:spcBef>
                <a:spcPts val="0"/>
              </a:spcBef>
              <a:spcAft>
                <a:spcPts val="0"/>
              </a:spcAft>
              <a:buNone/>
            </a:pPr>
            <a:r>
              <a:rPr lang="en-US" sz="2499" b="1" i="0" u="none" strike="noStrike" cap="none">
                <a:solidFill>
                  <a:srgbClr val="000000"/>
                </a:solidFill>
                <a:latin typeface="Arial"/>
                <a:ea typeface="Arial"/>
                <a:cs typeface="Arial"/>
                <a:sym typeface="Arial"/>
              </a:rPr>
              <a:t>Supports doctors &amp;</a:t>
            </a:r>
            <a:endParaRPr/>
          </a:p>
          <a:p>
            <a:pPr marL="0" marR="0" lvl="0" indent="0" algn="just" rtl="0">
              <a:lnSpc>
                <a:spcPct val="118367"/>
              </a:lnSpc>
              <a:spcBef>
                <a:spcPts val="0"/>
              </a:spcBef>
              <a:spcAft>
                <a:spcPts val="0"/>
              </a:spcAft>
              <a:buNone/>
            </a:pPr>
            <a:r>
              <a:rPr lang="en-US" sz="2499" b="1" i="0" u="none" strike="noStrike" cap="none">
                <a:solidFill>
                  <a:srgbClr val="000000"/>
                </a:solidFill>
                <a:latin typeface="Arial"/>
                <a:ea typeface="Arial"/>
                <a:cs typeface="Arial"/>
                <a:sym typeface="Arial"/>
              </a:rPr>
              <a:t>patients</a:t>
            </a:r>
            <a:endParaRPr/>
          </a:p>
        </p:txBody>
      </p:sp>
      <p:sp>
        <p:nvSpPr>
          <p:cNvPr id="244" name="Google Shape;244;p17"/>
          <p:cNvSpPr txBox="1"/>
          <p:nvPr/>
        </p:nvSpPr>
        <p:spPr>
          <a:xfrm>
            <a:off x="10008669" y="3637414"/>
            <a:ext cx="3678324" cy="1285071"/>
          </a:xfrm>
          <a:prstGeom prst="rect">
            <a:avLst/>
          </a:prstGeom>
          <a:noFill/>
          <a:ln>
            <a:noFill/>
          </a:ln>
        </p:spPr>
        <p:txBody>
          <a:bodyPr spcFirstLastPara="1" wrap="square" lIns="0" tIns="0" rIns="0" bIns="0" anchor="t" anchorCtr="0">
            <a:spAutoFit/>
          </a:bodyPr>
          <a:lstStyle/>
          <a:p>
            <a:pPr marL="0" marR="0" lvl="0" indent="0" algn="l" rtl="0">
              <a:lnSpc>
                <a:spcPct val="141856"/>
              </a:lnSpc>
              <a:spcBef>
                <a:spcPts val="0"/>
              </a:spcBef>
              <a:spcAft>
                <a:spcPts val="0"/>
              </a:spcAft>
              <a:buNone/>
            </a:pPr>
            <a:r>
              <a:rPr lang="en-US" sz="2499" b="1" i="0" u="none" strike="noStrike" cap="none">
                <a:solidFill>
                  <a:srgbClr val="000000"/>
                </a:solidFill>
                <a:latin typeface="Arial"/>
                <a:ea typeface="Arial"/>
                <a:cs typeface="Arial"/>
                <a:sym typeface="Arial"/>
              </a:rPr>
              <a:t>Contributes to SDG 3: Good Health &amp; Well-</a:t>
            </a:r>
            <a:endParaRPr/>
          </a:p>
          <a:p>
            <a:pPr marL="0" marR="0" lvl="0" indent="0" algn="l" rtl="0">
              <a:lnSpc>
                <a:spcPct val="116686"/>
              </a:lnSpc>
              <a:spcBef>
                <a:spcPts val="0"/>
              </a:spcBef>
              <a:spcAft>
                <a:spcPts val="0"/>
              </a:spcAft>
              <a:buNone/>
            </a:pPr>
            <a:r>
              <a:rPr lang="en-US" sz="2499" b="1" i="0" u="none" strike="noStrike" cap="none">
                <a:solidFill>
                  <a:srgbClr val="000000"/>
                </a:solidFill>
                <a:latin typeface="Arial"/>
                <a:ea typeface="Arial"/>
                <a:cs typeface="Arial"/>
                <a:sym typeface="Arial"/>
              </a:rPr>
              <a:t>being</a:t>
            </a:r>
            <a:endParaRPr/>
          </a:p>
        </p:txBody>
      </p:sp>
      <p:sp>
        <p:nvSpPr>
          <p:cNvPr id="245" name="Google Shape;245;p17"/>
          <p:cNvSpPr txBox="1"/>
          <p:nvPr/>
        </p:nvSpPr>
        <p:spPr>
          <a:xfrm>
            <a:off x="14522552" y="3736749"/>
            <a:ext cx="3800458" cy="732014"/>
          </a:xfrm>
          <a:prstGeom prst="rect">
            <a:avLst/>
          </a:prstGeom>
          <a:noFill/>
          <a:ln>
            <a:noFill/>
          </a:ln>
        </p:spPr>
        <p:txBody>
          <a:bodyPr spcFirstLastPara="1" wrap="square" lIns="0" tIns="0" rIns="0" bIns="0" anchor="t" anchorCtr="0">
            <a:spAutoFit/>
          </a:bodyPr>
          <a:lstStyle/>
          <a:p>
            <a:pPr marL="0" marR="0" lvl="0" indent="0" algn="l" rtl="0">
              <a:lnSpc>
                <a:spcPct val="114485"/>
              </a:lnSpc>
              <a:spcBef>
                <a:spcPts val="0"/>
              </a:spcBef>
              <a:spcAft>
                <a:spcPts val="0"/>
              </a:spcAft>
              <a:buNone/>
            </a:pPr>
            <a:r>
              <a:rPr lang="en-US" sz="2499" b="1" i="0" u="none" strike="noStrike" cap="none">
                <a:solidFill>
                  <a:srgbClr val="000000"/>
                </a:solidFill>
                <a:latin typeface="Arial"/>
                <a:ea typeface="Arial"/>
                <a:cs typeface="Arial"/>
                <a:sym typeface="Arial"/>
              </a:rPr>
              <a:t>Future : Integrate IoT/wearable data</a:t>
            </a:r>
            <a:endParaRPr/>
          </a:p>
        </p:txBody>
      </p:sp>
      <p:sp>
        <p:nvSpPr>
          <p:cNvPr id="246" name="Google Shape;246;p17"/>
          <p:cNvSpPr txBox="1"/>
          <p:nvPr/>
        </p:nvSpPr>
        <p:spPr>
          <a:xfrm>
            <a:off x="875676" y="4694540"/>
            <a:ext cx="3081338" cy="2505075"/>
          </a:xfrm>
          <a:prstGeom prst="rect">
            <a:avLst/>
          </a:prstGeom>
          <a:noFill/>
          <a:ln>
            <a:noFill/>
          </a:ln>
        </p:spPr>
        <p:txBody>
          <a:bodyPr spcFirstLastPara="1" wrap="square" lIns="0" tIns="0" rIns="0" bIns="0" anchor="t" anchorCtr="0">
            <a:spAutoFit/>
          </a:bodyPr>
          <a:lstStyle/>
          <a:p>
            <a:pPr marL="0" marR="0" lvl="0" indent="0" algn="just" rtl="0">
              <a:lnSpc>
                <a:spcPct val="135014"/>
              </a:lnSpc>
              <a:spcBef>
                <a:spcPts val="0"/>
              </a:spcBef>
              <a:spcAft>
                <a:spcPts val="0"/>
              </a:spcAft>
              <a:buNone/>
            </a:pPr>
            <a:r>
              <a:rPr lang="en-US" sz="2499" b="0" i="0" u="none" strike="noStrike" cap="none">
                <a:solidFill>
                  <a:srgbClr val="000000"/>
                </a:solidFill>
                <a:latin typeface="Arial"/>
                <a:ea typeface="Arial"/>
                <a:cs typeface="Arial"/>
                <a:sym typeface="Arial"/>
              </a:rPr>
              <a:t>The project delivers a reliable system for predicting diseases like diabetes and heart disease using advanced data mining techniques.</a:t>
            </a:r>
            <a:endParaRPr/>
          </a:p>
        </p:txBody>
      </p:sp>
      <p:sp>
        <p:nvSpPr>
          <p:cNvPr id="247" name="Google Shape;247;p17"/>
          <p:cNvSpPr txBox="1"/>
          <p:nvPr/>
        </p:nvSpPr>
        <p:spPr>
          <a:xfrm>
            <a:off x="5226167" y="4732640"/>
            <a:ext cx="3515678" cy="2303907"/>
          </a:xfrm>
          <a:prstGeom prst="rect">
            <a:avLst/>
          </a:prstGeom>
          <a:noFill/>
          <a:ln>
            <a:noFill/>
          </a:ln>
        </p:spPr>
        <p:txBody>
          <a:bodyPr spcFirstLastPara="1" wrap="square" lIns="0" tIns="0" rIns="0" bIns="0" anchor="t" anchorCtr="0">
            <a:spAutoFit/>
          </a:bodyPr>
          <a:lstStyle/>
          <a:p>
            <a:pPr marL="0" marR="0" lvl="0" indent="0" algn="l" rtl="0">
              <a:lnSpc>
                <a:spcPct val="120008"/>
              </a:lnSpc>
              <a:spcBef>
                <a:spcPts val="0"/>
              </a:spcBef>
              <a:spcAft>
                <a:spcPts val="0"/>
              </a:spcAft>
              <a:buNone/>
            </a:pPr>
            <a:r>
              <a:rPr lang="en-US" sz="2499" b="0" i="0" u="none" strike="noStrike" cap="none">
                <a:solidFill>
                  <a:srgbClr val="000000"/>
                </a:solidFill>
                <a:latin typeface="Arial"/>
                <a:ea typeface="Arial"/>
                <a:cs typeface="Arial"/>
                <a:sym typeface="Arial"/>
              </a:rPr>
              <a:t>The system provides</a:t>
            </a:r>
            <a:endParaRPr/>
          </a:p>
          <a:p>
            <a:pPr marL="0" marR="0" lvl="0" indent="0" algn="l" rtl="0">
              <a:lnSpc>
                <a:spcPct val="120008"/>
              </a:lnSpc>
              <a:spcBef>
                <a:spcPts val="0"/>
              </a:spcBef>
              <a:spcAft>
                <a:spcPts val="0"/>
              </a:spcAft>
              <a:buNone/>
            </a:pPr>
            <a:r>
              <a:rPr lang="en-US" sz="2499" b="0" i="0" u="none" strike="noStrike" cap="none">
                <a:solidFill>
                  <a:srgbClr val="000000"/>
                </a:solidFill>
                <a:latin typeface="Arial"/>
                <a:ea typeface="Arial"/>
                <a:cs typeface="Arial"/>
                <a:sym typeface="Arial"/>
              </a:rPr>
              <a:t>interpretable results to help healthcare</a:t>
            </a:r>
            <a:endParaRPr/>
          </a:p>
          <a:p>
            <a:pPr marL="0" marR="0" lvl="0" indent="0" algn="l" rtl="0">
              <a:lnSpc>
                <a:spcPct val="126730"/>
              </a:lnSpc>
              <a:spcBef>
                <a:spcPts val="0"/>
              </a:spcBef>
              <a:spcAft>
                <a:spcPts val="0"/>
              </a:spcAft>
              <a:buNone/>
            </a:pPr>
            <a:r>
              <a:rPr lang="en-US" sz="2499" b="0" i="0" u="none" strike="noStrike" cap="none">
                <a:solidFill>
                  <a:srgbClr val="000000"/>
                </a:solidFill>
                <a:latin typeface="Arial"/>
                <a:ea typeface="Arial"/>
                <a:cs typeface="Arial"/>
                <a:sym typeface="Arial"/>
              </a:rPr>
              <a:t>professionals make informed decisions and empower patients.</a:t>
            </a:r>
            <a:endParaRPr/>
          </a:p>
        </p:txBody>
      </p:sp>
      <p:sp>
        <p:nvSpPr>
          <p:cNvPr id="248" name="Google Shape;248;p17"/>
          <p:cNvSpPr txBox="1"/>
          <p:nvPr/>
        </p:nvSpPr>
        <p:spPr>
          <a:xfrm>
            <a:off x="10008669" y="5114925"/>
            <a:ext cx="3062288" cy="2863977"/>
          </a:xfrm>
          <a:prstGeom prst="rect">
            <a:avLst/>
          </a:prstGeom>
          <a:noFill/>
          <a:ln>
            <a:noFill/>
          </a:ln>
        </p:spPr>
        <p:txBody>
          <a:bodyPr spcFirstLastPara="1" wrap="square" lIns="0" tIns="0" rIns="0" bIns="0" anchor="t" anchorCtr="0">
            <a:spAutoFit/>
          </a:bodyPr>
          <a:lstStyle/>
          <a:p>
            <a:pPr marL="0" marR="0" lvl="0" indent="0" algn="l" rtl="0">
              <a:lnSpc>
                <a:spcPct val="129972"/>
              </a:lnSpc>
              <a:spcBef>
                <a:spcPts val="0"/>
              </a:spcBef>
              <a:spcAft>
                <a:spcPts val="0"/>
              </a:spcAft>
              <a:buNone/>
            </a:pPr>
            <a:r>
              <a:rPr lang="en-US" sz="2499" b="0" i="0" u="none" strike="noStrike" cap="none">
                <a:solidFill>
                  <a:srgbClr val="000000"/>
                </a:solidFill>
                <a:latin typeface="Arial"/>
                <a:ea typeface="Arial"/>
                <a:cs typeface="Arial"/>
                <a:sym typeface="Arial"/>
              </a:rPr>
              <a:t>The  project  supports the  United Nations' Sustainable Development  Goal  of ensuring healthy  lives and promoting  well- being  for  all.</a:t>
            </a:r>
            <a:endParaRPr/>
          </a:p>
        </p:txBody>
      </p:sp>
      <p:sp>
        <p:nvSpPr>
          <p:cNvPr id="249" name="Google Shape;249;p17"/>
          <p:cNvSpPr txBox="1"/>
          <p:nvPr/>
        </p:nvSpPr>
        <p:spPr>
          <a:xfrm>
            <a:off x="14337782" y="4902312"/>
            <a:ext cx="3824288" cy="2184273"/>
          </a:xfrm>
          <a:prstGeom prst="rect">
            <a:avLst/>
          </a:prstGeom>
          <a:noFill/>
          <a:ln>
            <a:noFill/>
          </a:ln>
        </p:spPr>
        <p:txBody>
          <a:bodyPr spcFirstLastPara="1" wrap="square" lIns="0" tIns="0" rIns="0" bIns="0" anchor="t" anchorCtr="0">
            <a:spAutoFit/>
          </a:bodyPr>
          <a:lstStyle/>
          <a:p>
            <a:pPr marL="0" marR="0" lvl="0" indent="0" algn="l" rtl="0">
              <a:lnSpc>
                <a:spcPct val="140056"/>
              </a:lnSpc>
              <a:spcBef>
                <a:spcPts val="0"/>
              </a:spcBef>
              <a:spcAft>
                <a:spcPts val="0"/>
              </a:spcAft>
              <a:buNone/>
            </a:pPr>
            <a:r>
              <a:rPr lang="en-US" sz="2499" b="0" i="0" u="none" strike="noStrike" cap="none">
                <a:solidFill>
                  <a:srgbClr val="000000"/>
                </a:solidFill>
                <a:latin typeface="Arial"/>
                <a:ea typeface="Arial"/>
                <a:cs typeface="Arial"/>
                <a:sym typeface="Arial"/>
              </a:rPr>
              <a:t>The  project  has  the  potential to incorporate  real - time  health data  from  wearable devices  and  IoT  sensors  to further  enhance  the predictive </a:t>
            </a:r>
            <a:endParaRPr/>
          </a:p>
        </p:txBody>
      </p:sp>
      <p:sp>
        <p:nvSpPr>
          <p:cNvPr id="250" name="Google Shape;250;p17"/>
          <p:cNvSpPr txBox="1"/>
          <p:nvPr/>
        </p:nvSpPr>
        <p:spPr>
          <a:xfrm>
            <a:off x="118975" y="8819274"/>
            <a:ext cx="18204035" cy="1230473"/>
          </a:xfrm>
          <a:prstGeom prst="rect">
            <a:avLst/>
          </a:prstGeom>
          <a:noFill/>
          <a:ln>
            <a:noFill/>
          </a:ln>
        </p:spPr>
        <p:txBody>
          <a:bodyPr spcFirstLastPara="1" wrap="square" lIns="0" tIns="0" rIns="0" bIns="0" anchor="t" anchorCtr="0">
            <a:spAutoFit/>
          </a:bodyPr>
          <a:lstStyle/>
          <a:p>
            <a:pPr marL="0" marR="0" lvl="0" indent="0" algn="l" rtl="0">
              <a:lnSpc>
                <a:spcPct val="116804"/>
              </a:lnSpc>
              <a:spcBef>
                <a:spcPts val="0"/>
              </a:spcBef>
              <a:spcAft>
                <a:spcPts val="0"/>
              </a:spcAft>
              <a:buNone/>
            </a:pPr>
            <a:r>
              <a:rPr lang="en-US" sz="2773" b="1" i="0" u="none" strike="noStrike" cap="none">
                <a:solidFill>
                  <a:srgbClr val="333333"/>
                </a:solidFill>
                <a:latin typeface="Arial"/>
                <a:ea typeface="Arial"/>
                <a:cs typeface="Arial"/>
                <a:sym typeface="Arial"/>
              </a:rPr>
              <a:t>The Smart Health Insights project leverages data mining to deliver an accurate and interpretable disease prediction system, supporting healthcare professionals and contributing to sustainable healthcare goals. The future scope includes integrating real-time wearable and IoT health data to further enhance the system's capabilities.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8"/>
          <p:cNvSpPr/>
          <p:nvPr/>
        </p:nvSpPr>
        <p:spPr>
          <a:xfrm>
            <a:off x="-121920" y="-57150"/>
            <a:ext cx="18409920" cy="10344150"/>
          </a:xfrm>
          <a:custGeom>
            <a:avLst/>
            <a:gdLst/>
            <a:ahLst/>
            <a:cxnLst/>
            <a:rect l="l" t="t" r="r" b="b"/>
            <a:pathLst>
              <a:path w="24384000" h="13716000" extrusionOk="0">
                <a:moveTo>
                  <a:pt x="24384000" y="13716000"/>
                </a:moveTo>
                <a:lnTo>
                  <a:pt x="0" y="13716000"/>
                </a:lnTo>
                <a:lnTo>
                  <a:pt x="0" y="0"/>
                </a:lnTo>
                <a:lnTo>
                  <a:pt x="24384000" y="0"/>
                </a:lnTo>
                <a:lnTo>
                  <a:pt x="24384000" y="13716000"/>
                </a:lnTo>
                <a:close/>
              </a:path>
            </a:pathLst>
          </a:custGeom>
          <a:solidFill>
            <a:srgbClr val="212121"/>
          </a:solidFill>
          <a:ln w="12700" cap="flat" cmpd="sng">
            <a:solidFill>
              <a:srgbClr val="000000"/>
            </a:solidFill>
            <a:prstDash val="solid"/>
            <a:round/>
            <a:headEnd type="none" w="sm" len="sm"/>
            <a:tailEnd type="none" w="sm" len="sm"/>
          </a:ln>
        </p:spPr>
      </p:sp>
      <p:sp>
        <p:nvSpPr>
          <p:cNvPr id="256" name="Google Shape;256;p18"/>
          <p:cNvSpPr txBox="1"/>
          <p:nvPr/>
        </p:nvSpPr>
        <p:spPr>
          <a:xfrm>
            <a:off x="0" y="1251089"/>
            <a:ext cx="15510061" cy="8915839"/>
          </a:xfrm>
          <a:prstGeom prst="rect">
            <a:avLst/>
          </a:prstGeom>
          <a:noFill/>
          <a:ln>
            <a:noFill/>
          </a:ln>
        </p:spPr>
        <p:txBody>
          <a:bodyPr spcFirstLastPara="1" wrap="square" lIns="0" tIns="0" rIns="0" bIns="0" anchor="t" anchorCtr="0">
            <a:spAutoFit/>
          </a:bodyPr>
          <a:lstStyle/>
          <a:p>
            <a:pPr marL="807107" marR="0" lvl="1" indent="-403553" algn="just" rtl="0">
              <a:lnSpc>
                <a:spcPct val="120010"/>
              </a:lnSpc>
              <a:spcBef>
                <a:spcPts val="0"/>
              </a:spcBef>
              <a:spcAft>
                <a:spcPts val="0"/>
              </a:spcAft>
              <a:buClr>
                <a:srgbClr val="FFFFFF"/>
              </a:buClr>
              <a:buSzPts val="3738"/>
              <a:buFont typeface="Arial"/>
              <a:buChar char="•"/>
            </a:pPr>
            <a:r>
              <a:rPr lang="en-US" sz="3738" b="0" i="0" u="none" strike="noStrike" cap="none" dirty="0">
                <a:solidFill>
                  <a:srgbClr val="FFFFFF"/>
                </a:solidFill>
                <a:latin typeface="Arial"/>
                <a:ea typeface="Arial"/>
                <a:cs typeface="Arial"/>
                <a:sym typeface="Arial"/>
              </a:rPr>
              <a:t> UCI Machine Learning Repository: Heart Disease Dataset.</a:t>
            </a:r>
            <a:endParaRPr dirty="0"/>
          </a:p>
          <a:p>
            <a:pPr marL="0" marR="0" lvl="0" indent="0" algn="just" rtl="0">
              <a:lnSpc>
                <a:spcPct val="120010"/>
              </a:lnSpc>
              <a:spcBef>
                <a:spcPts val="0"/>
              </a:spcBef>
              <a:spcAft>
                <a:spcPts val="0"/>
              </a:spcAft>
              <a:buNone/>
            </a:pPr>
            <a:endParaRPr sz="3738" b="0" i="0" u="none" strike="noStrike" cap="none" dirty="0">
              <a:solidFill>
                <a:srgbClr val="FFFFFF"/>
              </a:solidFill>
              <a:latin typeface="Arial"/>
              <a:ea typeface="Arial"/>
              <a:cs typeface="Arial"/>
              <a:sym typeface="Arial"/>
            </a:endParaRPr>
          </a:p>
          <a:p>
            <a:pPr marL="807107" marR="0" lvl="1" indent="-403553" algn="just" rtl="0">
              <a:lnSpc>
                <a:spcPct val="120010"/>
              </a:lnSpc>
              <a:spcBef>
                <a:spcPts val="0"/>
              </a:spcBef>
              <a:spcAft>
                <a:spcPts val="0"/>
              </a:spcAft>
              <a:buClr>
                <a:srgbClr val="FFFFFF"/>
              </a:buClr>
              <a:buSzPts val="3738"/>
              <a:buFont typeface="Arial"/>
              <a:buChar char="•"/>
            </a:pPr>
            <a:r>
              <a:rPr lang="en-US" sz="3738" b="0" i="0" u="none" strike="noStrike" cap="none" dirty="0">
                <a:solidFill>
                  <a:srgbClr val="FFFFFF"/>
                </a:solidFill>
                <a:latin typeface="Arial"/>
                <a:ea typeface="Arial"/>
                <a:cs typeface="Arial"/>
                <a:sym typeface="Arial"/>
              </a:rPr>
              <a:t> J. Han and M. Kamber, Data Mining: Concepts and </a:t>
            </a:r>
          </a:p>
          <a:p>
            <a:pPr marL="403554" marR="0" lvl="1" algn="just" rtl="0">
              <a:lnSpc>
                <a:spcPct val="120010"/>
              </a:lnSpc>
              <a:spcBef>
                <a:spcPts val="0"/>
              </a:spcBef>
              <a:spcAft>
                <a:spcPts val="0"/>
              </a:spcAft>
              <a:buClr>
                <a:srgbClr val="FFFFFF"/>
              </a:buClr>
              <a:buSzPts val="3738"/>
            </a:pPr>
            <a:r>
              <a:rPr lang="en-US" sz="3738" dirty="0">
                <a:solidFill>
                  <a:srgbClr val="FFFFFF"/>
                </a:solidFill>
              </a:rPr>
              <a:t>    </a:t>
            </a:r>
            <a:r>
              <a:rPr lang="en-US" sz="3738" b="0" i="0" u="none" strike="noStrike" cap="none" dirty="0">
                <a:solidFill>
                  <a:srgbClr val="FFFFFF"/>
                </a:solidFill>
                <a:latin typeface="Arial"/>
                <a:ea typeface="Arial"/>
                <a:cs typeface="Arial"/>
                <a:sym typeface="Arial"/>
              </a:rPr>
              <a:t>Techniques, 2011.</a:t>
            </a:r>
            <a:endParaRPr dirty="0"/>
          </a:p>
          <a:p>
            <a:pPr marL="0" marR="0" lvl="0" indent="0" algn="just" rtl="0">
              <a:lnSpc>
                <a:spcPct val="120010"/>
              </a:lnSpc>
              <a:spcBef>
                <a:spcPts val="0"/>
              </a:spcBef>
              <a:spcAft>
                <a:spcPts val="0"/>
              </a:spcAft>
              <a:buNone/>
            </a:pPr>
            <a:endParaRPr sz="3738" b="0" i="0" u="none" strike="noStrike" cap="none" dirty="0">
              <a:solidFill>
                <a:srgbClr val="FFFFFF"/>
              </a:solidFill>
              <a:latin typeface="Arial"/>
              <a:ea typeface="Arial"/>
              <a:cs typeface="Arial"/>
              <a:sym typeface="Arial"/>
            </a:endParaRPr>
          </a:p>
          <a:p>
            <a:pPr marL="807107" marR="0" lvl="1" indent="-403553" algn="just" rtl="0">
              <a:lnSpc>
                <a:spcPct val="120010"/>
              </a:lnSpc>
              <a:spcBef>
                <a:spcPts val="0"/>
              </a:spcBef>
              <a:spcAft>
                <a:spcPts val="0"/>
              </a:spcAft>
              <a:buClr>
                <a:srgbClr val="FFFFFF"/>
              </a:buClr>
              <a:buSzPts val="3738"/>
              <a:buFont typeface="Arial"/>
              <a:buChar char="•"/>
            </a:pPr>
            <a:r>
              <a:rPr lang="en-US" sz="3738" b="0" i="0" u="none" strike="noStrike" cap="none" dirty="0">
                <a:solidFill>
                  <a:srgbClr val="FFFFFF"/>
                </a:solidFill>
                <a:latin typeface="Arial"/>
                <a:ea typeface="Arial"/>
                <a:cs typeface="Arial"/>
                <a:sym typeface="Arial"/>
              </a:rPr>
              <a:t> S. Jadhav, “Heart Disease Prediction Using Machine Learning  Techniques,” IJCA, 2018.</a:t>
            </a:r>
            <a:endParaRPr dirty="0"/>
          </a:p>
          <a:p>
            <a:pPr marL="0" marR="0" lvl="0" indent="0" algn="just" rtl="0">
              <a:lnSpc>
                <a:spcPct val="120010"/>
              </a:lnSpc>
              <a:spcBef>
                <a:spcPts val="0"/>
              </a:spcBef>
              <a:spcAft>
                <a:spcPts val="0"/>
              </a:spcAft>
              <a:buNone/>
            </a:pPr>
            <a:endParaRPr sz="3738" b="0" i="0" u="none" strike="noStrike" cap="none" dirty="0">
              <a:solidFill>
                <a:srgbClr val="FFFFFF"/>
              </a:solidFill>
              <a:latin typeface="Arial"/>
              <a:ea typeface="Arial"/>
              <a:cs typeface="Arial"/>
              <a:sym typeface="Arial"/>
            </a:endParaRPr>
          </a:p>
          <a:p>
            <a:pPr marL="807107" marR="0" lvl="1" indent="-403553" algn="just" rtl="0">
              <a:lnSpc>
                <a:spcPct val="120010"/>
              </a:lnSpc>
              <a:spcBef>
                <a:spcPts val="0"/>
              </a:spcBef>
              <a:spcAft>
                <a:spcPts val="0"/>
              </a:spcAft>
              <a:buClr>
                <a:srgbClr val="FFFFFF"/>
              </a:buClr>
              <a:buSzPts val="3738"/>
              <a:buFont typeface="Arial"/>
              <a:buChar char="•"/>
            </a:pPr>
            <a:r>
              <a:rPr lang="en-US" sz="3738" b="0" i="0" u="none" strike="noStrike" cap="none" dirty="0">
                <a:solidFill>
                  <a:srgbClr val="FFFFFF"/>
                </a:solidFill>
                <a:latin typeface="Arial"/>
                <a:ea typeface="Arial"/>
                <a:cs typeface="Arial"/>
                <a:sym typeface="Arial"/>
              </a:rPr>
              <a:t> D. Dua and C. Graff, “UCI Machine Learning Repository,” University of California, Irvine, 2019</a:t>
            </a:r>
            <a:endParaRPr lang="en-US" sz="3738" dirty="0">
              <a:solidFill>
                <a:srgbClr val="FFFFFF"/>
              </a:solidFill>
            </a:endParaRPr>
          </a:p>
          <a:p>
            <a:pPr marL="807107" marR="0" lvl="1" indent="-403553" algn="just" rtl="0">
              <a:lnSpc>
                <a:spcPct val="120010"/>
              </a:lnSpc>
              <a:spcBef>
                <a:spcPts val="0"/>
              </a:spcBef>
              <a:spcAft>
                <a:spcPts val="0"/>
              </a:spcAft>
              <a:buClr>
                <a:srgbClr val="FFFFFF"/>
              </a:buClr>
              <a:buSzPts val="3738"/>
              <a:buFont typeface="Arial"/>
              <a:buChar char="•"/>
            </a:pPr>
            <a:endParaRPr sz="3738" b="0" i="0" u="none" strike="noStrike" cap="none" dirty="0">
              <a:solidFill>
                <a:srgbClr val="FFFFFF"/>
              </a:solidFill>
              <a:latin typeface="Arial"/>
              <a:ea typeface="Arial"/>
              <a:cs typeface="Arial"/>
              <a:sym typeface="Arial"/>
            </a:endParaRPr>
          </a:p>
          <a:p>
            <a:pPr marL="807107" marR="0" lvl="1" indent="-403553" algn="just" rtl="0">
              <a:lnSpc>
                <a:spcPct val="114874"/>
              </a:lnSpc>
              <a:spcBef>
                <a:spcPts val="0"/>
              </a:spcBef>
              <a:spcAft>
                <a:spcPts val="0"/>
              </a:spcAft>
              <a:buClr>
                <a:srgbClr val="FFFFFF"/>
              </a:buClr>
              <a:buSzPts val="3738"/>
              <a:buFont typeface="Arial"/>
              <a:buChar char="•"/>
            </a:pPr>
            <a:r>
              <a:rPr lang="en-US" sz="3738" b="0" i="0" u="none" strike="noStrike" cap="none" dirty="0">
                <a:solidFill>
                  <a:srgbClr val="FFFFFF"/>
                </a:solidFill>
                <a:latin typeface="Arial"/>
                <a:ea typeface="Arial"/>
                <a:cs typeface="Arial"/>
                <a:sym typeface="Arial"/>
              </a:rPr>
              <a:t>R. Patel and H. Sharma, “Coronary Artery Disease Prediction Using Machine Learning Models,” IEEE, 2021.</a:t>
            </a:r>
            <a:endParaRPr dirty="0"/>
          </a:p>
        </p:txBody>
      </p:sp>
      <p:sp>
        <p:nvSpPr>
          <p:cNvPr id="257" name="Google Shape;257;p18"/>
          <p:cNvSpPr/>
          <p:nvPr/>
        </p:nvSpPr>
        <p:spPr>
          <a:xfrm>
            <a:off x="15240278" y="57150"/>
            <a:ext cx="2749823" cy="2823210"/>
          </a:xfrm>
          <a:custGeom>
            <a:avLst/>
            <a:gdLst/>
            <a:ahLst/>
            <a:cxnLst/>
            <a:rect l="l" t="t" r="r" b="b"/>
            <a:pathLst>
              <a:path w="2966992" h="2977820" extrusionOk="0">
                <a:moveTo>
                  <a:pt x="0" y="0"/>
                </a:moveTo>
                <a:lnTo>
                  <a:pt x="2966992" y="0"/>
                </a:lnTo>
                <a:lnTo>
                  <a:pt x="2966992" y="2977820"/>
                </a:lnTo>
                <a:lnTo>
                  <a:pt x="0" y="2977820"/>
                </a:lnTo>
                <a:lnTo>
                  <a:pt x="0" y="0"/>
                </a:lnTo>
                <a:close/>
              </a:path>
            </a:pathLst>
          </a:custGeom>
          <a:blipFill rotWithShape="1">
            <a:blip r:embed="rId3">
              <a:alphaModFix/>
            </a:blip>
            <a:stretch>
              <a:fillRect/>
            </a:stretch>
          </a:blipFill>
          <a:ln>
            <a:noFill/>
          </a:ln>
        </p:spPr>
      </p:sp>
      <p:sp>
        <p:nvSpPr>
          <p:cNvPr id="258" name="Google Shape;258;p18"/>
          <p:cNvSpPr txBox="1"/>
          <p:nvPr/>
        </p:nvSpPr>
        <p:spPr>
          <a:xfrm>
            <a:off x="4984053" y="92272"/>
            <a:ext cx="4933085" cy="1038746"/>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5625" b="1" i="0" u="none" strike="noStrike" cap="none" dirty="0">
                <a:solidFill>
                  <a:srgbClr val="FFFFFF"/>
                </a:solidFill>
                <a:latin typeface="Arial"/>
                <a:ea typeface="Arial"/>
                <a:cs typeface="Arial"/>
                <a:sym typeface="Arial"/>
              </a:rPr>
              <a:t>References</a:t>
            </a:r>
            <a:endParaRPr dirty="0"/>
          </a:p>
        </p:txBody>
      </p:sp>
      <p:sp>
        <p:nvSpPr>
          <p:cNvPr id="259" name="Google Shape;259;p18"/>
          <p:cNvSpPr txBox="1"/>
          <p:nvPr/>
        </p:nvSpPr>
        <p:spPr>
          <a:xfrm>
            <a:off x="17735946" y="9651276"/>
            <a:ext cx="108585" cy="3733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025" b="0" i="0" u="none" strike="noStrike" cap="none">
                <a:solidFill>
                  <a:srgbClr val="FFFFFF"/>
                </a:solidFill>
                <a:latin typeface="Calibri"/>
                <a:ea typeface="Calibri"/>
                <a:cs typeface="Calibri"/>
                <a:sym typeface="Calibri"/>
              </a:rPr>
              <a:t>1</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19"/>
          <p:cNvSpPr/>
          <p:nvPr/>
        </p:nvSpPr>
        <p:spPr>
          <a:xfrm>
            <a:off x="0" y="0"/>
            <a:ext cx="18288000" cy="10286999"/>
          </a:xfrm>
          <a:custGeom>
            <a:avLst/>
            <a:gdLst/>
            <a:ahLst/>
            <a:cxnLst/>
            <a:rect l="l" t="t" r="r" b="b"/>
            <a:pathLst>
              <a:path w="24384000" h="13716000" extrusionOk="0">
                <a:moveTo>
                  <a:pt x="0" y="0"/>
                </a:moveTo>
                <a:lnTo>
                  <a:pt x="24384000" y="0"/>
                </a:lnTo>
                <a:lnTo>
                  <a:pt x="24384000" y="13716000"/>
                </a:lnTo>
                <a:lnTo>
                  <a:pt x="0" y="13716000"/>
                </a:lnTo>
                <a:lnTo>
                  <a:pt x="0" y="0"/>
                </a:lnTo>
                <a:close/>
              </a:path>
            </a:pathLst>
          </a:custGeom>
          <a:blipFill rotWithShape="1">
            <a:blip r:embed="rId3">
              <a:alphaModFix/>
            </a:blip>
            <a:stretch>
              <a:fillRect t="-104" b="-103"/>
            </a:stretch>
          </a:blipFill>
          <a:ln>
            <a:noFill/>
          </a:ln>
        </p:spPr>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1246</Words>
  <Application>Microsoft Office PowerPoint</Application>
  <PresentationFormat>Custom</PresentationFormat>
  <Paragraphs>158</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 Bharathi</cp:lastModifiedBy>
  <cp:revision>12</cp:revision>
  <dcterms:created xsi:type="dcterms:W3CDTF">2006-08-16T00:00:00Z</dcterms:created>
  <dcterms:modified xsi:type="dcterms:W3CDTF">2026-02-14T07:30:24Z</dcterms:modified>
</cp:coreProperties>
</file>